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A892-A196-40B5-8923-B0077FE2D10B}" type="datetimeFigureOut">
              <a:rPr lang="en-US" smtClean="0"/>
              <a:t>05/05/26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87654-1635-46CD-AB39-758136306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331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A892-A196-40B5-8923-B0077FE2D10B}" type="datetimeFigureOut">
              <a:rPr lang="en-US" smtClean="0"/>
              <a:t>05/05/26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87654-1635-46CD-AB39-758136306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17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A892-A196-40B5-8923-B0077FE2D10B}" type="datetimeFigureOut">
              <a:rPr lang="en-US" smtClean="0"/>
              <a:t>05/05/26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87654-1635-46CD-AB39-758136306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966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A892-A196-40B5-8923-B0077FE2D10B}" type="datetimeFigureOut">
              <a:rPr lang="en-US" smtClean="0"/>
              <a:t>05/05/26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87654-1635-46CD-AB39-758136306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123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A892-A196-40B5-8923-B0077FE2D10B}" type="datetimeFigureOut">
              <a:rPr lang="en-US" smtClean="0"/>
              <a:t>05/05/26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87654-1635-46CD-AB39-758136306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731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A892-A196-40B5-8923-B0077FE2D10B}" type="datetimeFigureOut">
              <a:rPr lang="en-US" smtClean="0"/>
              <a:t>05/05/26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87654-1635-46CD-AB39-758136306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764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A892-A196-40B5-8923-B0077FE2D10B}" type="datetimeFigureOut">
              <a:rPr lang="en-US" smtClean="0"/>
              <a:t>05/05/26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87654-1635-46CD-AB39-758136306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385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A892-A196-40B5-8923-B0077FE2D10B}" type="datetimeFigureOut">
              <a:rPr lang="en-US" smtClean="0"/>
              <a:t>05/05/26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87654-1635-46CD-AB39-758136306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714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A892-A196-40B5-8923-B0077FE2D10B}" type="datetimeFigureOut">
              <a:rPr lang="en-US" smtClean="0"/>
              <a:t>05/05/26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87654-1635-46CD-AB39-758136306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334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A892-A196-40B5-8923-B0077FE2D10B}" type="datetimeFigureOut">
              <a:rPr lang="en-US" smtClean="0"/>
              <a:t>05/05/26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87654-1635-46CD-AB39-758136306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710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A892-A196-40B5-8923-B0077FE2D10B}" type="datetimeFigureOut">
              <a:rPr lang="en-US" smtClean="0"/>
              <a:t>05/05/26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87654-1635-46CD-AB39-758136306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969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9A892-A196-40B5-8923-B0077FE2D10B}" type="datetimeFigureOut">
              <a:rPr lang="en-US" smtClean="0"/>
              <a:t>05/05/26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87654-1635-46CD-AB39-758136306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688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-454105" y="-21022"/>
            <a:ext cx="13491727" cy="6891753"/>
            <a:chOff x="-454105" y="-21022"/>
            <a:chExt cx="13491727" cy="6891753"/>
          </a:xfrm>
        </p:grpSpPr>
        <p:grpSp>
          <p:nvGrpSpPr>
            <p:cNvPr id="2103" name="Group 2102"/>
            <p:cNvGrpSpPr/>
            <p:nvPr/>
          </p:nvGrpSpPr>
          <p:grpSpPr>
            <a:xfrm>
              <a:off x="-454105" y="-21022"/>
              <a:ext cx="13491727" cy="6891753"/>
              <a:chOff x="-454105" y="-9147"/>
              <a:chExt cx="13491727" cy="6891753"/>
            </a:xfrm>
          </p:grpSpPr>
          <p:sp>
            <p:nvSpPr>
              <p:cNvPr id="13" name="Text Box 1"/>
              <p:cNvSpPr txBox="1"/>
              <p:nvPr/>
            </p:nvSpPr>
            <p:spPr>
              <a:xfrm>
                <a:off x="5509878" y="656422"/>
                <a:ext cx="1397000" cy="410993"/>
              </a:xfrm>
              <a:prstGeom prst="rect">
                <a:avLst/>
              </a:prstGeom>
              <a:solidFill>
                <a:schemeClr val="lt1"/>
              </a:solidFill>
              <a:ln w="12700">
                <a:solidFill>
                  <a:schemeClr val="tx1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300" b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VIỆN TRƯỞNG</a:t>
                </a:r>
                <a:endParaRPr lang="en-US" sz="13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Text Box 2"/>
              <p:cNvSpPr txBox="1"/>
              <p:nvPr/>
            </p:nvSpPr>
            <p:spPr>
              <a:xfrm>
                <a:off x="5109882" y="1556614"/>
                <a:ext cx="2192843" cy="323876"/>
              </a:xfrm>
              <a:prstGeom prst="rect">
                <a:avLst/>
              </a:prstGeom>
              <a:solidFill>
                <a:schemeClr val="lt1"/>
              </a:solidFill>
              <a:ln w="12700">
                <a:solidFill>
                  <a:schemeClr val="tx1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300" b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CÁC PHÓ VIỆN TRƯỞNG</a:t>
                </a:r>
                <a:endParaRPr lang="en-US" sz="13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Text Box 3"/>
              <p:cNvSpPr txBox="1"/>
              <p:nvPr/>
            </p:nvSpPr>
            <p:spPr>
              <a:xfrm>
                <a:off x="1153547" y="1159065"/>
                <a:ext cx="2688991" cy="397549"/>
              </a:xfrm>
              <a:prstGeom prst="rect">
                <a:avLst/>
              </a:prstGeom>
              <a:solidFill>
                <a:schemeClr val="lt1"/>
              </a:solidFill>
              <a:ln w="12700">
                <a:solidFill>
                  <a:schemeClr val="tx1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300" b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HỘI ĐỒNG KHOA HỌC VIỆN</a:t>
                </a:r>
                <a:endParaRPr lang="en-US" sz="13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Text Box 4"/>
              <p:cNvSpPr txBox="1"/>
              <p:nvPr/>
            </p:nvSpPr>
            <p:spPr>
              <a:xfrm>
                <a:off x="8574218" y="1239747"/>
                <a:ext cx="2452370" cy="397549"/>
              </a:xfrm>
              <a:prstGeom prst="rect">
                <a:avLst/>
              </a:prstGeom>
              <a:solidFill>
                <a:schemeClr val="lt1"/>
              </a:solidFill>
              <a:ln w="12700">
                <a:solidFill>
                  <a:schemeClr val="tx1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300" b="1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CHI BỘ, CÔNG ĐOÀN VIỆN</a:t>
                </a:r>
                <a:endParaRPr lang="en-US" sz="13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Rectangle 18"/>
              <p:cNvSpPr>
                <a:spLocks noChangeArrowheads="1"/>
              </p:cNvSpPr>
              <p:nvPr/>
            </p:nvSpPr>
            <p:spPr bwMode="auto">
              <a:xfrm>
                <a:off x="3652839" y="-9147"/>
                <a:ext cx="5111078" cy="492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SƠ ĐỒ TỔ CHỨC </a:t>
                </a:r>
                <a:endParaRPr kumimoji="0" lang="en-US" sz="13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VIỆN NGHIÊN CỨU CÔNG NGHỆ SINH HỌC V</a:t>
                </a:r>
                <a:r>
                  <a:rPr kumimoji="0" lang="en-US" sz="13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À</a:t>
                </a:r>
                <a:r>
                  <a:rPr kumimoji="0" lang="en-US" sz="13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MÔI TRƯỜNG</a:t>
                </a:r>
                <a:endParaRPr kumimoji="0" lang="en-US" sz="13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  <p:sp>
            <p:nvSpPr>
              <p:cNvPr id="12" name="Rectangle 23"/>
              <p:cNvSpPr>
                <a:spLocks noChangeArrowheads="1"/>
              </p:cNvSpPr>
              <p:nvPr/>
            </p:nvSpPr>
            <p:spPr bwMode="auto">
              <a:xfrm>
                <a:off x="3254188" y="495018"/>
                <a:ext cx="184731" cy="8925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3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/>
                </a:r>
                <a:br>
                  <a:rPr kumimoji="0" lang="en-US" sz="13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</a:br>
                <a:endParaRPr kumimoji="0" lang="en-US" sz="13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3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7" name="Rectangle 24"/>
              <p:cNvSpPr>
                <a:spLocks noChangeArrowheads="1"/>
              </p:cNvSpPr>
              <p:nvPr/>
            </p:nvSpPr>
            <p:spPr bwMode="auto">
              <a:xfrm>
                <a:off x="3254188" y="4809873"/>
                <a:ext cx="184731" cy="492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3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3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cxnSp>
            <p:nvCxnSpPr>
              <p:cNvPr id="19" name="Straight Arrow Connector 18"/>
              <p:cNvCxnSpPr>
                <a:stCxn id="13" idx="2"/>
                <a:endCxn id="14" idx="0"/>
              </p:cNvCxnSpPr>
              <p:nvPr/>
            </p:nvCxnSpPr>
            <p:spPr>
              <a:xfrm flipH="1">
                <a:off x="6206304" y="1067415"/>
                <a:ext cx="2074" cy="48919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Elbow Connector 20"/>
              <p:cNvCxnSpPr>
                <a:stCxn id="15" idx="0"/>
                <a:endCxn id="13" idx="1"/>
              </p:cNvCxnSpPr>
              <p:nvPr/>
            </p:nvCxnSpPr>
            <p:spPr>
              <a:xfrm rot="5400000" flipH="1" flipV="1">
                <a:off x="3855387" y="-495425"/>
                <a:ext cx="297146" cy="3011835"/>
              </a:xfrm>
              <a:prstGeom prst="bentConnector2">
                <a:avLst/>
              </a:prstGeom>
              <a:ln w="19050"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Elbow Connector 22"/>
              <p:cNvCxnSpPr>
                <a:stCxn id="16" idx="0"/>
                <a:endCxn id="13" idx="3"/>
              </p:cNvCxnSpPr>
              <p:nvPr/>
            </p:nvCxnSpPr>
            <p:spPr>
              <a:xfrm rot="16200000" flipV="1">
                <a:off x="8164727" y="-395930"/>
                <a:ext cx="377828" cy="2893525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 Box 2"/>
              <p:cNvSpPr txBox="1"/>
              <p:nvPr/>
            </p:nvSpPr>
            <p:spPr>
              <a:xfrm>
                <a:off x="4653898" y="2340199"/>
                <a:ext cx="3108959" cy="321505"/>
              </a:xfrm>
              <a:prstGeom prst="rect">
                <a:avLst/>
              </a:prstGeom>
              <a:solidFill>
                <a:schemeClr val="lt1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300" b="1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Tổ</a:t>
                </a:r>
                <a:r>
                  <a:rPr lang="en-US" sz="1300" b="1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b="1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văn</a:t>
                </a:r>
                <a:r>
                  <a:rPr lang="en-US" sz="1300" b="1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b="1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phòng</a:t>
                </a:r>
                <a:r>
                  <a:rPr lang="en-US" sz="1300" b="1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– </a:t>
                </a:r>
                <a:r>
                  <a:rPr lang="en-US" sz="1300" b="1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Quản</a:t>
                </a:r>
                <a:r>
                  <a:rPr lang="en-US" sz="1300" b="1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b="1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lý</a:t>
                </a:r>
                <a:r>
                  <a:rPr lang="en-US" sz="1300" b="1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b="1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chất</a:t>
                </a:r>
                <a:r>
                  <a:rPr lang="en-US" sz="1300" b="1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b="1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lượng</a:t>
                </a:r>
                <a:endParaRPr lang="en-US" sz="13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9" name="Straight Arrow Connector 28"/>
              <p:cNvCxnSpPr>
                <a:endCxn id="28" idx="0"/>
              </p:cNvCxnSpPr>
              <p:nvPr/>
            </p:nvCxnSpPr>
            <p:spPr>
              <a:xfrm>
                <a:off x="6205869" y="1823991"/>
                <a:ext cx="2509" cy="51620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Elbow Connector 30"/>
              <p:cNvCxnSpPr>
                <a:stCxn id="28" idx="2"/>
              </p:cNvCxnSpPr>
              <p:nvPr/>
            </p:nvCxnSpPr>
            <p:spPr>
              <a:xfrm rot="5400000">
                <a:off x="4416894" y="1132834"/>
                <a:ext cx="262614" cy="3320354"/>
              </a:xfrm>
              <a:prstGeom prst="bentConnector2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 Box 2"/>
              <p:cNvSpPr txBox="1"/>
              <p:nvPr/>
            </p:nvSpPr>
            <p:spPr>
              <a:xfrm>
                <a:off x="1551458" y="3264143"/>
                <a:ext cx="2212902" cy="787352"/>
              </a:xfrm>
              <a:prstGeom prst="rect">
                <a:avLst/>
              </a:prstGeom>
              <a:solidFill>
                <a:schemeClr val="lt1"/>
              </a:solidFill>
              <a:ln w="1270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25000"/>
                  </a:lnSpc>
                </a:pPr>
                <a:r>
                  <a:rPr lang="en-US" sz="1300" b="1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Phòng</a:t>
                </a:r>
                <a:r>
                  <a:rPr lang="en-US" sz="1300" b="1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b="1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Công</a:t>
                </a:r>
                <a:r>
                  <a:rPr lang="en-US" sz="1300" b="1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b="1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nghệ</a:t>
                </a:r>
                <a:r>
                  <a:rPr lang="en-US" sz="1300" b="1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b="1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Sinh</a:t>
                </a:r>
                <a:r>
                  <a:rPr lang="en-US" sz="1300" b="1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b="1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học</a:t>
                </a:r>
                <a:r>
                  <a:rPr lang="en-US" sz="1300" b="1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b="1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và</a:t>
                </a:r>
                <a:r>
                  <a:rPr lang="en-US" sz="1300" b="1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Vi </a:t>
                </a:r>
                <a:r>
                  <a:rPr lang="en-US" sz="1300" b="1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sinh</a:t>
                </a:r>
                <a:r>
                  <a:rPr lang="en-US" sz="1300" b="1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b="1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ứng</a:t>
                </a:r>
                <a:r>
                  <a:rPr lang="en-US" sz="1300" b="1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b="1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dụng</a:t>
                </a:r>
                <a:r>
                  <a:rPr lang="en-US" sz="1300" b="1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b="1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tiên</a:t>
                </a:r>
                <a:r>
                  <a:rPr lang="en-US" sz="1300" b="1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b="1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tiến</a:t>
                </a:r>
                <a:endParaRPr lang="en-US" sz="13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Text Box 2"/>
              <p:cNvSpPr txBox="1"/>
              <p:nvPr/>
            </p:nvSpPr>
            <p:spPr>
              <a:xfrm>
                <a:off x="8718722" y="3184814"/>
                <a:ext cx="2307866" cy="866681"/>
              </a:xfrm>
              <a:prstGeom prst="rect">
                <a:avLst/>
              </a:prstGeom>
              <a:solidFill>
                <a:schemeClr val="lt1"/>
              </a:solidFill>
              <a:ln w="1270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25000"/>
                  </a:lnSpc>
                </a:pPr>
                <a:r>
                  <a:rPr lang="en-US" sz="1300" b="1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Phòng</a:t>
                </a:r>
                <a:r>
                  <a:rPr lang="en-US" sz="1300" b="1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b="1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Công</a:t>
                </a:r>
                <a:r>
                  <a:rPr lang="en-US" sz="1300" b="1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b="1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nghệ</a:t>
                </a:r>
                <a:r>
                  <a:rPr lang="en-US" sz="1300" b="1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b="1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Môi</a:t>
                </a:r>
                <a:r>
                  <a:rPr lang="en-US" sz="1300" b="1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b="1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trường</a:t>
                </a:r>
                <a:r>
                  <a:rPr lang="en-US" sz="1300" b="1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– </a:t>
                </a:r>
                <a:r>
                  <a:rPr lang="en-US" sz="1300" b="1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Hóa</a:t>
                </a:r>
                <a:r>
                  <a:rPr lang="en-US" sz="1300" b="1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b="1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sinh</a:t>
                </a:r>
                <a:r>
                  <a:rPr lang="en-US" sz="1300" b="1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b="1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ứng</a:t>
                </a:r>
                <a:r>
                  <a:rPr lang="en-US" sz="1300" b="1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b="1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dụng</a:t>
                </a:r>
                <a:r>
                  <a:rPr lang="en-US" sz="1300" b="1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b="1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và</a:t>
                </a:r>
                <a:r>
                  <a:rPr lang="en-US" sz="1300" b="1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ctr">
                  <a:lnSpc>
                    <a:spcPct val="125000"/>
                  </a:lnSpc>
                </a:pPr>
                <a:r>
                  <a:rPr lang="en-US" sz="1300" b="1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Nông</a:t>
                </a:r>
                <a:r>
                  <a:rPr lang="en-US" sz="1300" b="1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b="1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nghiệp</a:t>
                </a:r>
                <a:r>
                  <a:rPr lang="en-US" sz="1300" b="1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b="1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tuần</a:t>
                </a:r>
                <a:r>
                  <a:rPr lang="en-US" sz="1300" b="1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b="1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hoàn</a:t>
                </a:r>
                <a:endParaRPr lang="en-US" sz="13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4" name="Elbow Connector 33"/>
              <p:cNvCxnSpPr/>
              <p:nvPr/>
            </p:nvCxnSpPr>
            <p:spPr>
              <a:xfrm>
                <a:off x="6205869" y="2922683"/>
                <a:ext cx="3395331" cy="245746"/>
              </a:xfrm>
              <a:prstGeom prst="bentConnector3">
                <a:avLst>
                  <a:gd name="adj1" fmla="val 99683"/>
                </a:avLst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/>
              <p:cNvCxnSpPr/>
              <p:nvPr/>
            </p:nvCxnSpPr>
            <p:spPr>
              <a:xfrm flipH="1">
                <a:off x="2888024" y="2938564"/>
                <a:ext cx="5926" cy="32145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/>
              <p:cNvCxnSpPr/>
              <p:nvPr/>
            </p:nvCxnSpPr>
            <p:spPr>
              <a:xfrm flipV="1">
                <a:off x="6205869" y="2770896"/>
                <a:ext cx="0" cy="13953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Elbow Connector 48"/>
              <p:cNvCxnSpPr>
                <a:endCxn id="36" idx="0"/>
              </p:cNvCxnSpPr>
              <p:nvPr/>
            </p:nvCxnSpPr>
            <p:spPr>
              <a:xfrm>
                <a:off x="6205869" y="2067951"/>
                <a:ext cx="3666786" cy="1116863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Elbow Connector 54"/>
              <p:cNvCxnSpPr>
                <a:endCxn id="35" idx="0"/>
              </p:cNvCxnSpPr>
              <p:nvPr/>
            </p:nvCxnSpPr>
            <p:spPr>
              <a:xfrm rot="10800000" flipV="1">
                <a:off x="2657909" y="2063339"/>
                <a:ext cx="3547962" cy="1200804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Elbow Connector 56"/>
              <p:cNvCxnSpPr/>
              <p:nvPr/>
            </p:nvCxnSpPr>
            <p:spPr>
              <a:xfrm rot="16200000" flipV="1">
                <a:off x="7651298" y="1541306"/>
                <a:ext cx="769340" cy="274727"/>
              </a:xfrm>
              <a:prstGeom prst="bentConnector3">
                <a:avLst>
                  <a:gd name="adj1" fmla="val 99371"/>
                </a:avLst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Elbow Connector 59"/>
              <p:cNvCxnSpPr/>
              <p:nvPr/>
            </p:nvCxnSpPr>
            <p:spPr>
              <a:xfrm rot="10800000">
                <a:off x="6951948" y="932486"/>
                <a:ext cx="993918" cy="349639"/>
              </a:xfrm>
              <a:prstGeom prst="bentConnector3">
                <a:avLst>
                  <a:gd name="adj1" fmla="val 39968"/>
                </a:avLst>
              </a:prstGeom>
              <a:ln w="12700"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Elbow Connector 61"/>
              <p:cNvCxnSpPr/>
              <p:nvPr/>
            </p:nvCxnSpPr>
            <p:spPr>
              <a:xfrm rot="10800000" flipV="1">
                <a:off x="7275832" y="1294000"/>
                <a:ext cx="675617" cy="381354"/>
              </a:xfrm>
              <a:prstGeom prst="bentConnector3">
                <a:avLst>
                  <a:gd name="adj1" fmla="val 61942"/>
                </a:avLst>
              </a:prstGeom>
              <a:ln w="12700"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Rectangle 18"/>
              <p:cNvSpPr>
                <a:spLocks noChangeArrowheads="1"/>
              </p:cNvSpPr>
              <p:nvPr/>
            </p:nvSpPr>
            <p:spPr bwMode="auto">
              <a:xfrm>
                <a:off x="-454105" y="6590218"/>
                <a:ext cx="13491727" cy="2923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300" b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Ghi</a:t>
                </a:r>
                <a:r>
                  <a:rPr lang="en-US" sz="13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b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chú</a:t>
                </a:r>
                <a:r>
                  <a:rPr lang="en-US" sz="13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                                               : </a:t>
                </a:r>
                <a:r>
                  <a:rPr lang="en-US" sz="1300" b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Lãnh</a:t>
                </a:r>
                <a:r>
                  <a:rPr lang="en-US" sz="13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b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đạo</a:t>
                </a:r>
                <a:r>
                  <a:rPr lang="en-US" sz="13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        : </a:t>
                </a:r>
                <a:r>
                  <a:rPr lang="en-US" sz="1300" b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</a:t>
                </a:r>
                <a:r>
                  <a:rPr lang="en-US" sz="13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b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vấn</a:t>
                </a:r>
                <a:r>
                  <a:rPr lang="en-US" sz="13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1300" b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tham</a:t>
                </a:r>
                <a:r>
                  <a:rPr lang="en-US" sz="13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b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mưu</a:t>
                </a:r>
                <a:r>
                  <a:rPr lang="en-US" sz="13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: </a:t>
                </a:r>
                <a:r>
                  <a:rPr lang="en-US" sz="1300" b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US" sz="13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b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US" sz="13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kumimoji="0" lang="en-US" sz="13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  <p:cxnSp>
            <p:nvCxnSpPr>
              <p:cNvPr id="2062" name="Straight Arrow Connector 2061"/>
              <p:cNvCxnSpPr/>
              <p:nvPr/>
            </p:nvCxnSpPr>
            <p:spPr>
              <a:xfrm>
                <a:off x="1309412" y="6769016"/>
                <a:ext cx="89632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4" name="Straight Arrow Connector 2063"/>
              <p:cNvCxnSpPr/>
              <p:nvPr/>
            </p:nvCxnSpPr>
            <p:spPr>
              <a:xfrm>
                <a:off x="5613009" y="6769016"/>
                <a:ext cx="102694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6" name="Straight Arrow Connector 2065"/>
              <p:cNvCxnSpPr/>
              <p:nvPr/>
            </p:nvCxnSpPr>
            <p:spPr>
              <a:xfrm>
                <a:off x="10865298" y="6769016"/>
                <a:ext cx="51546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8" name="Straight Arrow Connector 2067"/>
              <p:cNvCxnSpPr/>
              <p:nvPr/>
            </p:nvCxnSpPr>
            <p:spPr>
              <a:xfrm flipH="1">
                <a:off x="10381957" y="6769016"/>
                <a:ext cx="483341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Text Box 2"/>
              <p:cNvSpPr txBox="1"/>
              <p:nvPr/>
            </p:nvSpPr>
            <p:spPr>
              <a:xfrm>
                <a:off x="-219480" y="4620857"/>
                <a:ext cx="1373027" cy="1737739"/>
              </a:xfrm>
              <a:prstGeom prst="rect">
                <a:avLst/>
              </a:prstGeom>
              <a:solidFill>
                <a:schemeClr val="lt1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lnSpc>
                    <a:spcPct val="125000"/>
                  </a:lnSpc>
                </a:pP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Phòng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ghiên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cứu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Sinh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học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phân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tử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Công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nghệ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Gen</a:t>
                </a:r>
                <a:endParaRPr lang="en-US" sz="13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7" name="Text Box 2"/>
              <p:cNvSpPr txBox="1"/>
              <p:nvPr/>
            </p:nvSpPr>
            <p:spPr>
              <a:xfrm>
                <a:off x="1272095" y="4620857"/>
                <a:ext cx="1308296" cy="1737739"/>
              </a:xfrm>
              <a:prstGeom prst="rect">
                <a:avLst/>
              </a:prstGeom>
              <a:solidFill>
                <a:schemeClr val="lt1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lnSpc>
                    <a:spcPct val="125000"/>
                  </a:lnSpc>
                </a:pPr>
                <a:r>
                  <a:rPr lang="en-US" sz="1300" dirty="0" err="1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Phòng</a:t>
                </a:r>
                <a:r>
                  <a:rPr lang="en-US" sz="1300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Nghiên</a:t>
                </a:r>
                <a:r>
                  <a:rPr lang="en-US" sz="1300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cứu</a:t>
                </a:r>
                <a:r>
                  <a:rPr lang="en-US" sz="1300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Công</a:t>
                </a:r>
                <a:r>
                  <a:rPr lang="en-US" sz="1300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nghệ</a:t>
                </a:r>
                <a:r>
                  <a:rPr lang="en-US" sz="1300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tế</a:t>
                </a:r>
                <a:r>
                  <a:rPr lang="en-US" sz="1300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bào</a:t>
                </a:r>
                <a:r>
                  <a:rPr lang="en-US" sz="1300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thực</a:t>
                </a:r>
                <a:r>
                  <a:rPr lang="en-US" sz="1300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vật</a:t>
                </a:r>
                <a:r>
                  <a:rPr lang="en-US" sz="1300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và</a:t>
                </a:r>
                <a:r>
                  <a:rPr lang="en-US" sz="1300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Phát</a:t>
                </a:r>
                <a:r>
                  <a:rPr lang="en-US" sz="1300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triển</a:t>
                </a:r>
                <a:r>
                  <a:rPr lang="en-US" sz="1300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dược</a:t>
                </a:r>
                <a:r>
                  <a:rPr lang="en-US" sz="1300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liệu</a:t>
                </a:r>
                <a:endParaRPr lang="en-US" sz="13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8" name="Text Box 2"/>
              <p:cNvSpPr txBox="1"/>
              <p:nvPr/>
            </p:nvSpPr>
            <p:spPr>
              <a:xfrm>
                <a:off x="2697075" y="4620857"/>
                <a:ext cx="1365689" cy="1737739"/>
              </a:xfrm>
              <a:prstGeom prst="rect">
                <a:avLst/>
              </a:prstGeom>
              <a:solidFill>
                <a:schemeClr val="lt1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lnSpc>
                    <a:spcPct val="125000"/>
                  </a:lnSpc>
                </a:pP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Phòng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Nghiên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cứu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Công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nghệ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Vi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sinh</a:t>
                </a:r>
                <a:endParaRPr lang="en-US" sz="13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9" name="Text Box 2"/>
              <p:cNvSpPr txBox="1"/>
              <p:nvPr/>
            </p:nvSpPr>
            <p:spPr>
              <a:xfrm>
                <a:off x="4173446" y="4620857"/>
                <a:ext cx="1308296" cy="1737739"/>
              </a:xfrm>
              <a:prstGeom prst="rect">
                <a:avLst/>
              </a:prstGeom>
              <a:solidFill>
                <a:schemeClr val="lt1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lnSpc>
                    <a:spcPct val="125000"/>
                  </a:lnSpc>
                </a:pP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Phòng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Nghiên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cứu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Sức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khỏe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cây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trồng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và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Vi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sinh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Nông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nghiệp</a:t>
                </a:r>
                <a:endParaRPr lang="en-US" sz="13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0" name="Text Box 2"/>
              <p:cNvSpPr txBox="1"/>
              <p:nvPr/>
            </p:nvSpPr>
            <p:spPr>
              <a:xfrm>
                <a:off x="5637611" y="4616730"/>
                <a:ext cx="1308296" cy="1737739"/>
              </a:xfrm>
              <a:prstGeom prst="rect">
                <a:avLst/>
              </a:prstGeom>
              <a:solidFill>
                <a:schemeClr val="lt1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lnSpc>
                    <a:spcPct val="125000"/>
                  </a:lnSpc>
                </a:pP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Phòng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Nghiên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cứu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Nấm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ăn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và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Nấm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dược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liệu</a:t>
                </a:r>
                <a:endParaRPr lang="en-US" sz="13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1" name="Text Box 2"/>
              <p:cNvSpPr txBox="1"/>
              <p:nvPr/>
            </p:nvSpPr>
            <p:spPr>
              <a:xfrm>
                <a:off x="7157237" y="4616729"/>
                <a:ext cx="1231855" cy="1737739"/>
              </a:xfrm>
              <a:prstGeom prst="rect">
                <a:avLst/>
              </a:prstGeom>
              <a:solidFill>
                <a:schemeClr val="lt1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lnSpc>
                    <a:spcPct val="125000"/>
                  </a:lnSpc>
                </a:pP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Phòng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Nghiên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cứu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Nông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nghiệp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tuần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hoàn</a:t>
                </a:r>
                <a:endParaRPr lang="en-US" sz="13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2" name="Text Box 2"/>
              <p:cNvSpPr txBox="1"/>
              <p:nvPr/>
            </p:nvSpPr>
            <p:spPr>
              <a:xfrm>
                <a:off x="8564527" y="4616729"/>
                <a:ext cx="1308296" cy="1737739"/>
              </a:xfrm>
              <a:prstGeom prst="rect">
                <a:avLst/>
              </a:prstGeom>
              <a:solidFill>
                <a:schemeClr val="lt1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lnSpc>
                    <a:spcPct val="125000"/>
                  </a:lnSpc>
                </a:pP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Phòng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Nghiên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cứu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Hóa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sinh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–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Hợp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chất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sinh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học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ứng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dụng</a:t>
                </a:r>
                <a:endParaRPr lang="en-US" sz="13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3" name="Text Box 2"/>
              <p:cNvSpPr txBox="1"/>
              <p:nvPr/>
            </p:nvSpPr>
            <p:spPr>
              <a:xfrm>
                <a:off x="10016470" y="4616728"/>
                <a:ext cx="1308296" cy="1737739"/>
              </a:xfrm>
              <a:prstGeom prst="rect">
                <a:avLst/>
              </a:prstGeom>
              <a:solidFill>
                <a:schemeClr val="lt1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lnSpc>
                    <a:spcPct val="125000"/>
                  </a:lnSpc>
                </a:pP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Phòng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Nghiên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cứu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Khoa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học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kỹ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thuật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môi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trường</a:t>
                </a:r>
                <a:endParaRPr lang="en-US" sz="13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4" name="Text Box 2"/>
              <p:cNvSpPr txBox="1"/>
              <p:nvPr/>
            </p:nvSpPr>
            <p:spPr>
              <a:xfrm>
                <a:off x="11446283" y="4616727"/>
                <a:ext cx="1308296" cy="1737739"/>
              </a:xfrm>
              <a:prstGeom prst="rect">
                <a:avLst/>
              </a:prstGeom>
              <a:solidFill>
                <a:schemeClr val="lt1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lnSpc>
                    <a:spcPct val="125000"/>
                  </a:lnSpc>
                </a:pP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Phòng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Nghiên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cứu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Môi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trường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–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Đất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–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Phân</a:t>
                </a:r>
                <a:r>
                  <a:rPr lang="en-US" sz="13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bón</a:t>
                </a:r>
                <a:endParaRPr lang="en-US" sz="13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070" name="Elbow Connector 2069"/>
              <p:cNvCxnSpPr>
                <a:stCxn id="35" idx="2"/>
              </p:cNvCxnSpPr>
              <p:nvPr/>
            </p:nvCxnSpPr>
            <p:spPr>
              <a:xfrm rot="5400000">
                <a:off x="1457285" y="3057509"/>
                <a:ext cx="206638" cy="2194611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2" name="Elbow Connector 2071"/>
              <p:cNvCxnSpPr>
                <a:endCxn id="90" idx="0"/>
              </p:cNvCxnSpPr>
              <p:nvPr/>
            </p:nvCxnSpPr>
            <p:spPr>
              <a:xfrm>
                <a:off x="2691072" y="4262259"/>
                <a:ext cx="3600687" cy="354471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9" name="Straight Arrow Connector 2078"/>
              <p:cNvCxnSpPr>
                <a:endCxn id="87" idx="0"/>
              </p:cNvCxnSpPr>
              <p:nvPr/>
            </p:nvCxnSpPr>
            <p:spPr>
              <a:xfrm>
                <a:off x="1926243" y="4258132"/>
                <a:ext cx="0" cy="36272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3" name="Straight Arrow Connector 2082"/>
              <p:cNvCxnSpPr>
                <a:endCxn id="89" idx="0"/>
              </p:cNvCxnSpPr>
              <p:nvPr/>
            </p:nvCxnSpPr>
            <p:spPr>
              <a:xfrm>
                <a:off x="4827594" y="4258132"/>
                <a:ext cx="0" cy="36272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5" name="Elbow Connector 2084"/>
              <p:cNvCxnSpPr>
                <a:stCxn id="36" idx="2"/>
              </p:cNvCxnSpPr>
              <p:nvPr/>
            </p:nvCxnSpPr>
            <p:spPr>
              <a:xfrm rot="5400000">
                <a:off x="8725256" y="3110732"/>
                <a:ext cx="206636" cy="2088162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7" name="Elbow Connector 2086"/>
              <p:cNvCxnSpPr>
                <a:endCxn id="94" idx="0"/>
              </p:cNvCxnSpPr>
              <p:nvPr/>
            </p:nvCxnSpPr>
            <p:spPr>
              <a:xfrm>
                <a:off x="9792010" y="4258132"/>
                <a:ext cx="2308421" cy="358595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6" name="Straight Arrow Connector 2095"/>
              <p:cNvCxnSpPr>
                <a:endCxn id="91" idx="0"/>
              </p:cNvCxnSpPr>
              <p:nvPr/>
            </p:nvCxnSpPr>
            <p:spPr>
              <a:xfrm flipH="1">
                <a:off x="7773165" y="4258131"/>
                <a:ext cx="11328" cy="35859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8" name="Straight Arrow Connector 2097"/>
              <p:cNvCxnSpPr>
                <a:endCxn id="92" idx="0"/>
              </p:cNvCxnSpPr>
              <p:nvPr/>
            </p:nvCxnSpPr>
            <p:spPr>
              <a:xfrm>
                <a:off x="9218675" y="4258132"/>
                <a:ext cx="0" cy="35859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0" name="Straight Arrow Connector 2099"/>
              <p:cNvCxnSpPr>
                <a:endCxn id="93" idx="0"/>
              </p:cNvCxnSpPr>
              <p:nvPr/>
            </p:nvCxnSpPr>
            <p:spPr>
              <a:xfrm>
                <a:off x="10670618" y="4258132"/>
                <a:ext cx="0" cy="35859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7" name="Straight Arrow Connector 66"/>
            <p:cNvCxnSpPr>
              <a:endCxn id="86" idx="0"/>
            </p:cNvCxnSpPr>
            <p:nvPr/>
          </p:nvCxnSpPr>
          <p:spPr>
            <a:xfrm>
              <a:off x="457200" y="4250843"/>
              <a:ext cx="9834" cy="35813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>
              <a:endCxn id="88" idx="0"/>
            </p:cNvCxnSpPr>
            <p:nvPr/>
          </p:nvCxnSpPr>
          <p:spPr>
            <a:xfrm>
              <a:off x="3375212" y="4250843"/>
              <a:ext cx="4708" cy="35813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90351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852" y="792353"/>
            <a:ext cx="9425354" cy="5800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0914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283687" y="470647"/>
            <a:ext cx="10082818" cy="4934690"/>
            <a:chOff x="283687" y="470647"/>
            <a:chExt cx="10082818" cy="4934690"/>
          </a:xfrm>
        </p:grpSpPr>
        <p:sp>
          <p:nvSpPr>
            <p:cNvPr id="61" name="AutoShape 50"/>
            <p:cNvSpPr>
              <a:spLocks/>
            </p:cNvSpPr>
            <p:nvPr/>
          </p:nvSpPr>
          <p:spPr bwMode="auto">
            <a:xfrm>
              <a:off x="5472614" y="1145844"/>
              <a:ext cx="104710" cy="1874066"/>
            </a:xfrm>
            <a:custGeom>
              <a:avLst/>
              <a:gdLst>
                <a:gd name="T0" fmla="+- 0 4405 4365"/>
                <a:gd name="T1" fmla="*/ T0 w 120"/>
                <a:gd name="T2" fmla="+- 0 1538 761"/>
                <a:gd name="T3" fmla="*/ 1538 h 897"/>
                <a:gd name="T4" fmla="+- 0 4365 4365"/>
                <a:gd name="T5" fmla="*/ T4 w 120"/>
                <a:gd name="T6" fmla="+- 0 1538 761"/>
                <a:gd name="T7" fmla="*/ 1538 h 897"/>
                <a:gd name="T8" fmla="+- 0 4425 4365"/>
                <a:gd name="T9" fmla="*/ T8 w 120"/>
                <a:gd name="T10" fmla="+- 0 1658 761"/>
                <a:gd name="T11" fmla="*/ 1658 h 897"/>
                <a:gd name="T12" fmla="+- 0 4475 4365"/>
                <a:gd name="T13" fmla="*/ T12 w 120"/>
                <a:gd name="T14" fmla="+- 0 1558 761"/>
                <a:gd name="T15" fmla="*/ 1558 h 897"/>
                <a:gd name="T16" fmla="+- 0 4405 4365"/>
                <a:gd name="T17" fmla="*/ T16 w 120"/>
                <a:gd name="T18" fmla="+- 0 1558 761"/>
                <a:gd name="T19" fmla="*/ 1558 h 897"/>
                <a:gd name="T20" fmla="+- 0 4405 4365"/>
                <a:gd name="T21" fmla="*/ T20 w 120"/>
                <a:gd name="T22" fmla="+- 0 1538 761"/>
                <a:gd name="T23" fmla="*/ 1538 h 897"/>
                <a:gd name="T24" fmla="+- 0 4445 4365"/>
                <a:gd name="T25" fmla="*/ T24 w 120"/>
                <a:gd name="T26" fmla="+- 0 761 761"/>
                <a:gd name="T27" fmla="*/ 761 h 897"/>
                <a:gd name="T28" fmla="+- 0 4405 4365"/>
                <a:gd name="T29" fmla="*/ T28 w 120"/>
                <a:gd name="T30" fmla="+- 0 761 761"/>
                <a:gd name="T31" fmla="*/ 761 h 897"/>
                <a:gd name="T32" fmla="+- 0 4405 4365"/>
                <a:gd name="T33" fmla="*/ T32 w 120"/>
                <a:gd name="T34" fmla="+- 0 1558 761"/>
                <a:gd name="T35" fmla="*/ 1558 h 897"/>
                <a:gd name="T36" fmla="+- 0 4445 4365"/>
                <a:gd name="T37" fmla="*/ T36 w 120"/>
                <a:gd name="T38" fmla="+- 0 1558 761"/>
                <a:gd name="T39" fmla="*/ 1558 h 897"/>
                <a:gd name="T40" fmla="+- 0 4445 4365"/>
                <a:gd name="T41" fmla="*/ T40 w 120"/>
                <a:gd name="T42" fmla="+- 0 761 761"/>
                <a:gd name="T43" fmla="*/ 761 h 897"/>
                <a:gd name="T44" fmla="+- 0 4485 4365"/>
                <a:gd name="T45" fmla="*/ T44 w 120"/>
                <a:gd name="T46" fmla="+- 0 1538 761"/>
                <a:gd name="T47" fmla="*/ 1538 h 897"/>
                <a:gd name="T48" fmla="+- 0 4445 4365"/>
                <a:gd name="T49" fmla="*/ T48 w 120"/>
                <a:gd name="T50" fmla="+- 0 1538 761"/>
                <a:gd name="T51" fmla="*/ 1538 h 897"/>
                <a:gd name="T52" fmla="+- 0 4445 4365"/>
                <a:gd name="T53" fmla="*/ T52 w 120"/>
                <a:gd name="T54" fmla="+- 0 1558 761"/>
                <a:gd name="T55" fmla="*/ 1558 h 897"/>
                <a:gd name="T56" fmla="+- 0 4475 4365"/>
                <a:gd name="T57" fmla="*/ T56 w 120"/>
                <a:gd name="T58" fmla="+- 0 1558 761"/>
                <a:gd name="T59" fmla="*/ 1558 h 897"/>
                <a:gd name="T60" fmla="+- 0 4485 4365"/>
                <a:gd name="T61" fmla="*/ T60 w 120"/>
                <a:gd name="T62" fmla="+- 0 1538 761"/>
                <a:gd name="T63" fmla="*/ 1538 h 897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  <a:cxn ang="0">
                  <a:pos x="T21" y="T23"/>
                </a:cxn>
                <a:cxn ang="0">
                  <a:pos x="T25" y="T27"/>
                </a:cxn>
                <a:cxn ang="0">
                  <a:pos x="T29" y="T31"/>
                </a:cxn>
                <a:cxn ang="0">
                  <a:pos x="T33" y="T35"/>
                </a:cxn>
                <a:cxn ang="0">
                  <a:pos x="T37" y="T39"/>
                </a:cxn>
                <a:cxn ang="0">
                  <a:pos x="T41" y="T43"/>
                </a:cxn>
                <a:cxn ang="0">
                  <a:pos x="T45" y="T47"/>
                </a:cxn>
                <a:cxn ang="0">
                  <a:pos x="T49" y="T51"/>
                </a:cxn>
                <a:cxn ang="0">
                  <a:pos x="T53" y="T55"/>
                </a:cxn>
                <a:cxn ang="0">
                  <a:pos x="T57" y="T59"/>
                </a:cxn>
                <a:cxn ang="0">
                  <a:pos x="T61" y="T63"/>
                </a:cxn>
              </a:cxnLst>
              <a:rect l="0" t="0" r="r" b="b"/>
              <a:pathLst>
                <a:path w="120" h="897">
                  <a:moveTo>
                    <a:pt x="40" y="777"/>
                  </a:moveTo>
                  <a:lnTo>
                    <a:pt x="0" y="777"/>
                  </a:lnTo>
                  <a:lnTo>
                    <a:pt x="60" y="897"/>
                  </a:lnTo>
                  <a:lnTo>
                    <a:pt x="110" y="797"/>
                  </a:lnTo>
                  <a:lnTo>
                    <a:pt x="40" y="797"/>
                  </a:lnTo>
                  <a:lnTo>
                    <a:pt x="40" y="777"/>
                  </a:lnTo>
                  <a:close/>
                  <a:moveTo>
                    <a:pt x="80" y="0"/>
                  </a:moveTo>
                  <a:lnTo>
                    <a:pt x="40" y="0"/>
                  </a:lnTo>
                  <a:lnTo>
                    <a:pt x="40" y="797"/>
                  </a:lnTo>
                  <a:lnTo>
                    <a:pt x="80" y="797"/>
                  </a:lnTo>
                  <a:lnTo>
                    <a:pt x="80" y="0"/>
                  </a:lnTo>
                  <a:close/>
                  <a:moveTo>
                    <a:pt x="120" y="777"/>
                  </a:moveTo>
                  <a:lnTo>
                    <a:pt x="80" y="777"/>
                  </a:lnTo>
                  <a:lnTo>
                    <a:pt x="80" y="797"/>
                  </a:lnTo>
                  <a:lnTo>
                    <a:pt x="110" y="797"/>
                  </a:lnTo>
                  <a:lnTo>
                    <a:pt x="120" y="77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283687" y="470647"/>
              <a:ext cx="10082818" cy="4934690"/>
              <a:chOff x="283687" y="470647"/>
              <a:chExt cx="10082818" cy="4934690"/>
            </a:xfrm>
          </p:grpSpPr>
          <p:grpSp>
            <p:nvGrpSpPr>
              <p:cNvPr id="91" name="Group 90"/>
              <p:cNvGrpSpPr/>
              <p:nvPr/>
            </p:nvGrpSpPr>
            <p:grpSpPr>
              <a:xfrm>
                <a:off x="283687" y="470647"/>
                <a:ext cx="10082818" cy="4934690"/>
                <a:chOff x="283687" y="470647"/>
                <a:chExt cx="10082818" cy="4934690"/>
              </a:xfrm>
            </p:grpSpPr>
            <p:sp>
              <p:nvSpPr>
                <p:cNvPr id="31" name="AutoShape 50"/>
                <p:cNvSpPr>
                  <a:spLocks/>
                </p:cNvSpPr>
                <p:nvPr/>
              </p:nvSpPr>
              <p:spPr bwMode="auto">
                <a:xfrm>
                  <a:off x="4024988" y="1158643"/>
                  <a:ext cx="94042" cy="642249"/>
                </a:xfrm>
                <a:custGeom>
                  <a:avLst/>
                  <a:gdLst>
                    <a:gd name="T0" fmla="+- 0 4405 4365"/>
                    <a:gd name="T1" fmla="*/ T0 w 120"/>
                    <a:gd name="T2" fmla="+- 0 1538 761"/>
                    <a:gd name="T3" fmla="*/ 1538 h 897"/>
                    <a:gd name="T4" fmla="+- 0 4365 4365"/>
                    <a:gd name="T5" fmla="*/ T4 w 120"/>
                    <a:gd name="T6" fmla="+- 0 1538 761"/>
                    <a:gd name="T7" fmla="*/ 1538 h 897"/>
                    <a:gd name="T8" fmla="+- 0 4425 4365"/>
                    <a:gd name="T9" fmla="*/ T8 w 120"/>
                    <a:gd name="T10" fmla="+- 0 1658 761"/>
                    <a:gd name="T11" fmla="*/ 1658 h 897"/>
                    <a:gd name="T12" fmla="+- 0 4475 4365"/>
                    <a:gd name="T13" fmla="*/ T12 w 120"/>
                    <a:gd name="T14" fmla="+- 0 1558 761"/>
                    <a:gd name="T15" fmla="*/ 1558 h 897"/>
                    <a:gd name="T16" fmla="+- 0 4405 4365"/>
                    <a:gd name="T17" fmla="*/ T16 w 120"/>
                    <a:gd name="T18" fmla="+- 0 1558 761"/>
                    <a:gd name="T19" fmla="*/ 1558 h 897"/>
                    <a:gd name="T20" fmla="+- 0 4405 4365"/>
                    <a:gd name="T21" fmla="*/ T20 w 120"/>
                    <a:gd name="T22" fmla="+- 0 1538 761"/>
                    <a:gd name="T23" fmla="*/ 1538 h 897"/>
                    <a:gd name="T24" fmla="+- 0 4445 4365"/>
                    <a:gd name="T25" fmla="*/ T24 w 120"/>
                    <a:gd name="T26" fmla="+- 0 761 761"/>
                    <a:gd name="T27" fmla="*/ 761 h 897"/>
                    <a:gd name="T28" fmla="+- 0 4405 4365"/>
                    <a:gd name="T29" fmla="*/ T28 w 120"/>
                    <a:gd name="T30" fmla="+- 0 761 761"/>
                    <a:gd name="T31" fmla="*/ 761 h 897"/>
                    <a:gd name="T32" fmla="+- 0 4405 4365"/>
                    <a:gd name="T33" fmla="*/ T32 w 120"/>
                    <a:gd name="T34" fmla="+- 0 1558 761"/>
                    <a:gd name="T35" fmla="*/ 1558 h 897"/>
                    <a:gd name="T36" fmla="+- 0 4445 4365"/>
                    <a:gd name="T37" fmla="*/ T36 w 120"/>
                    <a:gd name="T38" fmla="+- 0 1558 761"/>
                    <a:gd name="T39" fmla="*/ 1558 h 897"/>
                    <a:gd name="T40" fmla="+- 0 4445 4365"/>
                    <a:gd name="T41" fmla="*/ T40 w 120"/>
                    <a:gd name="T42" fmla="+- 0 761 761"/>
                    <a:gd name="T43" fmla="*/ 761 h 897"/>
                    <a:gd name="T44" fmla="+- 0 4485 4365"/>
                    <a:gd name="T45" fmla="*/ T44 w 120"/>
                    <a:gd name="T46" fmla="+- 0 1538 761"/>
                    <a:gd name="T47" fmla="*/ 1538 h 897"/>
                    <a:gd name="T48" fmla="+- 0 4445 4365"/>
                    <a:gd name="T49" fmla="*/ T48 w 120"/>
                    <a:gd name="T50" fmla="+- 0 1538 761"/>
                    <a:gd name="T51" fmla="*/ 1538 h 897"/>
                    <a:gd name="T52" fmla="+- 0 4445 4365"/>
                    <a:gd name="T53" fmla="*/ T52 w 120"/>
                    <a:gd name="T54" fmla="+- 0 1558 761"/>
                    <a:gd name="T55" fmla="*/ 1558 h 897"/>
                    <a:gd name="T56" fmla="+- 0 4475 4365"/>
                    <a:gd name="T57" fmla="*/ T56 w 120"/>
                    <a:gd name="T58" fmla="+- 0 1558 761"/>
                    <a:gd name="T59" fmla="*/ 1558 h 897"/>
                    <a:gd name="T60" fmla="+- 0 4485 4365"/>
                    <a:gd name="T61" fmla="*/ T60 w 120"/>
                    <a:gd name="T62" fmla="+- 0 1538 761"/>
                    <a:gd name="T63" fmla="*/ 1538 h 897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  <a:cxn ang="0">
                      <a:pos x="T17" y="T19"/>
                    </a:cxn>
                    <a:cxn ang="0">
                      <a:pos x="T21" y="T23"/>
                    </a:cxn>
                    <a:cxn ang="0">
                      <a:pos x="T25" y="T27"/>
                    </a:cxn>
                    <a:cxn ang="0">
                      <a:pos x="T29" y="T31"/>
                    </a:cxn>
                    <a:cxn ang="0">
                      <a:pos x="T33" y="T35"/>
                    </a:cxn>
                    <a:cxn ang="0">
                      <a:pos x="T37" y="T39"/>
                    </a:cxn>
                    <a:cxn ang="0">
                      <a:pos x="T41" y="T43"/>
                    </a:cxn>
                    <a:cxn ang="0">
                      <a:pos x="T45" y="T47"/>
                    </a:cxn>
                    <a:cxn ang="0">
                      <a:pos x="T49" y="T51"/>
                    </a:cxn>
                    <a:cxn ang="0">
                      <a:pos x="T53" y="T55"/>
                    </a:cxn>
                    <a:cxn ang="0">
                      <a:pos x="T57" y="T59"/>
                    </a:cxn>
                    <a:cxn ang="0">
                      <a:pos x="T61" y="T63"/>
                    </a:cxn>
                  </a:cxnLst>
                  <a:rect l="0" t="0" r="r" b="b"/>
                  <a:pathLst>
                    <a:path w="120" h="897">
                      <a:moveTo>
                        <a:pt x="40" y="777"/>
                      </a:moveTo>
                      <a:lnTo>
                        <a:pt x="0" y="777"/>
                      </a:lnTo>
                      <a:lnTo>
                        <a:pt x="60" y="897"/>
                      </a:lnTo>
                      <a:lnTo>
                        <a:pt x="110" y="797"/>
                      </a:lnTo>
                      <a:lnTo>
                        <a:pt x="40" y="797"/>
                      </a:lnTo>
                      <a:lnTo>
                        <a:pt x="40" y="777"/>
                      </a:lnTo>
                      <a:close/>
                      <a:moveTo>
                        <a:pt x="80" y="0"/>
                      </a:moveTo>
                      <a:lnTo>
                        <a:pt x="40" y="0"/>
                      </a:lnTo>
                      <a:lnTo>
                        <a:pt x="40" y="797"/>
                      </a:lnTo>
                      <a:lnTo>
                        <a:pt x="80" y="797"/>
                      </a:lnTo>
                      <a:lnTo>
                        <a:pt x="80" y="0"/>
                      </a:lnTo>
                      <a:close/>
                      <a:moveTo>
                        <a:pt x="120" y="777"/>
                      </a:moveTo>
                      <a:lnTo>
                        <a:pt x="80" y="777"/>
                      </a:lnTo>
                      <a:lnTo>
                        <a:pt x="80" y="797"/>
                      </a:lnTo>
                      <a:lnTo>
                        <a:pt x="110" y="797"/>
                      </a:lnTo>
                      <a:lnTo>
                        <a:pt x="120" y="77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3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" name="Rectangle 31"/>
                <p:cNvSpPr>
                  <a:spLocks noChangeArrowheads="1"/>
                </p:cNvSpPr>
                <p:nvPr/>
              </p:nvSpPr>
              <p:spPr bwMode="auto">
                <a:xfrm>
                  <a:off x="3984237" y="470647"/>
                  <a:ext cx="2893356" cy="68799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3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3" name="Rectangle 32"/>
                <p:cNvSpPr>
                  <a:spLocks noChangeArrowheads="1"/>
                </p:cNvSpPr>
                <p:nvPr/>
              </p:nvSpPr>
              <p:spPr bwMode="auto">
                <a:xfrm>
                  <a:off x="3984237" y="470647"/>
                  <a:ext cx="3209964" cy="687996"/>
                </a:xfrm>
                <a:prstGeom prst="rect">
                  <a:avLst/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3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35" name="Line 46"/>
                <p:cNvCxnSpPr>
                  <a:cxnSpLocks noChangeShapeType="1"/>
                </p:cNvCxnSpPr>
                <p:nvPr/>
              </p:nvCxnSpPr>
              <p:spPr bwMode="auto">
                <a:xfrm flipV="1">
                  <a:off x="699316" y="3001897"/>
                  <a:ext cx="9139769" cy="5457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37" name="Rectangle 36"/>
                <p:cNvSpPr>
                  <a:spLocks noChangeArrowheads="1"/>
                </p:cNvSpPr>
                <p:nvPr/>
              </p:nvSpPr>
              <p:spPr bwMode="auto">
                <a:xfrm>
                  <a:off x="2695079" y="1817039"/>
                  <a:ext cx="1628493" cy="614443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3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38" name="Line 43"/>
                <p:cNvCxnSpPr>
                  <a:cxnSpLocks noChangeShapeType="1"/>
                </p:cNvCxnSpPr>
                <p:nvPr/>
              </p:nvCxnSpPr>
              <p:spPr bwMode="auto">
                <a:xfrm>
                  <a:off x="5423078" y="2070889"/>
                  <a:ext cx="0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39" name="AutoShape 42"/>
                <p:cNvSpPr>
                  <a:spLocks/>
                </p:cNvSpPr>
                <p:nvPr/>
              </p:nvSpPr>
              <p:spPr bwMode="auto">
                <a:xfrm>
                  <a:off x="4390807" y="1997558"/>
                  <a:ext cx="2087891" cy="77817"/>
                </a:xfrm>
                <a:custGeom>
                  <a:avLst/>
                  <a:gdLst>
                    <a:gd name="T0" fmla="+- 0 7359 4745"/>
                    <a:gd name="T1" fmla="*/ T0 w 2734"/>
                    <a:gd name="T2" fmla="+- 0 2066 1946"/>
                    <a:gd name="T3" fmla="*/ 2066 h 120"/>
                    <a:gd name="T4" fmla="+- 0 7379 4745"/>
                    <a:gd name="T5" fmla="*/ T4 w 2734"/>
                    <a:gd name="T6" fmla="+- 0 2026 1946"/>
                    <a:gd name="T7" fmla="*/ 2026 h 120"/>
                    <a:gd name="T8" fmla="+- 0 7439 4745"/>
                    <a:gd name="T9" fmla="*/ T8 w 2734"/>
                    <a:gd name="T10" fmla="+- 0 1986 1946"/>
                    <a:gd name="T11" fmla="*/ 1986 h 120"/>
                    <a:gd name="T12" fmla="+- 0 7359 4745"/>
                    <a:gd name="T13" fmla="*/ T12 w 2734"/>
                    <a:gd name="T14" fmla="+- 0 1986 1946"/>
                    <a:gd name="T15" fmla="*/ 1986 h 120"/>
                    <a:gd name="T16" fmla="+- 0 7219 4745"/>
                    <a:gd name="T17" fmla="*/ T16 w 2734"/>
                    <a:gd name="T18" fmla="+- 0 2026 1946"/>
                    <a:gd name="T19" fmla="*/ 2026 h 120"/>
                    <a:gd name="T20" fmla="+- 0 7359 4745"/>
                    <a:gd name="T21" fmla="*/ T20 w 2734"/>
                    <a:gd name="T22" fmla="+- 0 1986 1946"/>
                    <a:gd name="T23" fmla="*/ 1986 h 120"/>
                    <a:gd name="T24" fmla="+- 0 7379 4745"/>
                    <a:gd name="T25" fmla="*/ T24 w 2734"/>
                    <a:gd name="T26" fmla="+- 0 1986 1946"/>
                    <a:gd name="T27" fmla="*/ 1986 h 120"/>
                    <a:gd name="T28" fmla="+- 0 7439 4745"/>
                    <a:gd name="T29" fmla="*/ T28 w 2734"/>
                    <a:gd name="T30" fmla="+- 0 2026 1946"/>
                    <a:gd name="T31" fmla="*/ 2026 h 120"/>
                    <a:gd name="T32" fmla="+- 0 7439 4745"/>
                    <a:gd name="T33" fmla="*/ T32 w 2734"/>
                    <a:gd name="T34" fmla="+- 0 1986 1946"/>
                    <a:gd name="T35" fmla="*/ 1986 h 120"/>
                    <a:gd name="T36" fmla="+- 0 6939 4745"/>
                    <a:gd name="T37" fmla="*/ T36 w 2734"/>
                    <a:gd name="T38" fmla="+- 0 1986 1946"/>
                    <a:gd name="T39" fmla="*/ 1986 h 120"/>
                    <a:gd name="T40" fmla="+- 0 7099 4745"/>
                    <a:gd name="T41" fmla="*/ T40 w 2734"/>
                    <a:gd name="T42" fmla="+- 0 2026 1946"/>
                    <a:gd name="T43" fmla="*/ 2026 h 120"/>
                    <a:gd name="T44" fmla="+- 0 6819 4745"/>
                    <a:gd name="T45" fmla="*/ T44 w 2734"/>
                    <a:gd name="T46" fmla="+- 0 1986 1946"/>
                    <a:gd name="T47" fmla="*/ 1986 h 120"/>
                    <a:gd name="T48" fmla="+- 0 6659 4745"/>
                    <a:gd name="T49" fmla="*/ T48 w 2734"/>
                    <a:gd name="T50" fmla="+- 0 2026 1946"/>
                    <a:gd name="T51" fmla="*/ 2026 h 120"/>
                    <a:gd name="T52" fmla="+- 0 6819 4745"/>
                    <a:gd name="T53" fmla="*/ T52 w 2734"/>
                    <a:gd name="T54" fmla="+- 0 1986 1946"/>
                    <a:gd name="T55" fmla="*/ 1986 h 120"/>
                    <a:gd name="T56" fmla="+- 0 6379 4745"/>
                    <a:gd name="T57" fmla="*/ T56 w 2734"/>
                    <a:gd name="T58" fmla="+- 0 1986 1946"/>
                    <a:gd name="T59" fmla="*/ 1986 h 120"/>
                    <a:gd name="T60" fmla="+- 0 6539 4745"/>
                    <a:gd name="T61" fmla="*/ T60 w 2734"/>
                    <a:gd name="T62" fmla="+- 0 2026 1946"/>
                    <a:gd name="T63" fmla="*/ 2026 h 120"/>
                    <a:gd name="T64" fmla="+- 0 6259 4745"/>
                    <a:gd name="T65" fmla="*/ T64 w 2734"/>
                    <a:gd name="T66" fmla="+- 0 1986 1946"/>
                    <a:gd name="T67" fmla="*/ 1986 h 120"/>
                    <a:gd name="T68" fmla="+- 0 6099 4745"/>
                    <a:gd name="T69" fmla="*/ T68 w 2734"/>
                    <a:gd name="T70" fmla="+- 0 2026 1946"/>
                    <a:gd name="T71" fmla="*/ 2026 h 120"/>
                    <a:gd name="T72" fmla="+- 0 6259 4745"/>
                    <a:gd name="T73" fmla="*/ T72 w 2734"/>
                    <a:gd name="T74" fmla="+- 0 1986 1946"/>
                    <a:gd name="T75" fmla="*/ 1986 h 120"/>
                    <a:gd name="T76" fmla="+- 0 5819 4745"/>
                    <a:gd name="T77" fmla="*/ T76 w 2734"/>
                    <a:gd name="T78" fmla="+- 0 1986 1946"/>
                    <a:gd name="T79" fmla="*/ 1986 h 120"/>
                    <a:gd name="T80" fmla="+- 0 5979 4745"/>
                    <a:gd name="T81" fmla="*/ T80 w 2734"/>
                    <a:gd name="T82" fmla="+- 0 2026 1946"/>
                    <a:gd name="T83" fmla="*/ 2026 h 120"/>
                    <a:gd name="T84" fmla="+- 0 5699 4745"/>
                    <a:gd name="T85" fmla="*/ T84 w 2734"/>
                    <a:gd name="T86" fmla="+- 0 1986 1946"/>
                    <a:gd name="T87" fmla="*/ 1986 h 120"/>
                    <a:gd name="T88" fmla="+- 0 5539 4745"/>
                    <a:gd name="T89" fmla="*/ T88 w 2734"/>
                    <a:gd name="T90" fmla="+- 0 2026 1946"/>
                    <a:gd name="T91" fmla="*/ 2026 h 120"/>
                    <a:gd name="T92" fmla="+- 0 5699 4745"/>
                    <a:gd name="T93" fmla="*/ T92 w 2734"/>
                    <a:gd name="T94" fmla="+- 0 1986 1946"/>
                    <a:gd name="T95" fmla="*/ 1986 h 120"/>
                    <a:gd name="T96" fmla="+- 0 5259 4745"/>
                    <a:gd name="T97" fmla="*/ T96 w 2734"/>
                    <a:gd name="T98" fmla="+- 0 1986 1946"/>
                    <a:gd name="T99" fmla="*/ 1986 h 120"/>
                    <a:gd name="T100" fmla="+- 0 5419 4745"/>
                    <a:gd name="T101" fmla="*/ T100 w 2734"/>
                    <a:gd name="T102" fmla="+- 0 2026 1946"/>
                    <a:gd name="T103" fmla="*/ 2026 h 120"/>
                    <a:gd name="T104" fmla="+- 0 5139 4745"/>
                    <a:gd name="T105" fmla="*/ T104 w 2734"/>
                    <a:gd name="T106" fmla="+- 0 1986 1946"/>
                    <a:gd name="T107" fmla="*/ 1986 h 120"/>
                    <a:gd name="T108" fmla="+- 0 4979 4745"/>
                    <a:gd name="T109" fmla="*/ T108 w 2734"/>
                    <a:gd name="T110" fmla="+- 0 2026 1946"/>
                    <a:gd name="T111" fmla="*/ 2026 h 120"/>
                    <a:gd name="T112" fmla="+- 0 5139 4745"/>
                    <a:gd name="T113" fmla="*/ T112 w 2734"/>
                    <a:gd name="T114" fmla="+- 0 1986 1946"/>
                    <a:gd name="T115" fmla="*/ 1986 h 120"/>
                    <a:gd name="T116" fmla="+- 0 4745 4745"/>
                    <a:gd name="T117" fmla="*/ T116 w 2734"/>
                    <a:gd name="T118" fmla="+- 0 2006 1946"/>
                    <a:gd name="T119" fmla="*/ 2006 h 120"/>
                    <a:gd name="T120" fmla="+- 0 4865 4745"/>
                    <a:gd name="T121" fmla="*/ T120 w 2734"/>
                    <a:gd name="T122" fmla="+- 0 2026 1946"/>
                    <a:gd name="T123" fmla="*/ 2026 h 120"/>
                    <a:gd name="T124" fmla="+- 0 4845 4745"/>
                    <a:gd name="T125" fmla="*/ T124 w 2734"/>
                    <a:gd name="T126" fmla="+- 0 1986 1946"/>
                    <a:gd name="T127" fmla="*/ 1986 h 120"/>
                    <a:gd name="T128" fmla="+- 0 4865 4745"/>
                    <a:gd name="T129" fmla="*/ T128 w 2734"/>
                    <a:gd name="T130" fmla="+- 0 1946 1946"/>
                    <a:gd name="T131" fmla="*/ 1946 h 120"/>
                    <a:gd name="T132" fmla="+- 0 4845 4745"/>
                    <a:gd name="T133" fmla="*/ T132 w 2734"/>
                    <a:gd name="T134" fmla="+- 0 1986 1946"/>
                    <a:gd name="T135" fmla="*/ 1986 h 120"/>
                    <a:gd name="T136" fmla="+- 0 4859 4745"/>
                    <a:gd name="T137" fmla="*/ T136 w 2734"/>
                    <a:gd name="T138" fmla="+- 0 2026 1946"/>
                    <a:gd name="T139" fmla="*/ 2026 h 120"/>
                    <a:gd name="T140" fmla="+- 0 4865 4745"/>
                    <a:gd name="T141" fmla="*/ T140 w 2734"/>
                    <a:gd name="T142" fmla="+- 0 1986 1946"/>
                    <a:gd name="T143" fmla="*/ 1986 h 120"/>
                    <a:gd name="T144" fmla="+- 0 4859 4745"/>
                    <a:gd name="T145" fmla="*/ T144 w 2734"/>
                    <a:gd name="T146" fmla="+- 0 2026 1946"/>
                    <a:gd name="T147" fmla="*/ 2026 h 120"/>
                    <a:gd name="T148" fmla="+- 0 4865 4745"/>
                    <a:gd name="T149" fmla="*/ T148 w 2734"/>
                    <a:gd name="T150" fmla="+- 0 1986 1946"/>
                    <a:gd name="T151" fmla="*/ 1986 h 120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  <a:cxn ang="0">
                      <a:pos x="T17" y="T19"/>
                    </a:cxn>
                    <a:cxn ang="0">
                      <a:pos x="T21" y="T23"/>
                    </a:cxn>
                    <a:cxn ang="0">
                      <a:pos x="T25" y="T27"/>
                    </a:cxn>
                    <a:cxn ang="0">
                      <a:pos x="T29" y="T31"/>
                    </a:cxn>
                    <a:cxn ang="0">
                      <a:pos x="T33" y="T35"/>
                    </a:cxn>
                    <a:cxn ang="0">
                      <a:pos x="T37" y="T39"/>
                    </a:cxn>
                    <a:cxn ang="0">
                      <a:pos x="T41" y="T43"/>
                    </a:cxn>
                    <a:cxn ang="0">
                      <a:pos x="T45" y="T47"/>
                    </a:cxn>
                    <a:cxn ang="0">
                      <a:pos x="T49" y="T51"/>
                    </a:cxn>
                    <a:cxn ang="0">
                      <a:pos x="T53" y="T55"/>
                    </a:cxn>
                    <a:cxn ang="0">
                      <a:pos x="T57" y="T59"/>
                    </a:cxn>
                    <a:cxn ang="0">
                      <a:pos x="T61" y="T63"/>
                    </a:cxn>
                    <a:cxn ang="0">
                      <a:pos x="T65" y="T67"/>
                    </a:cxn>
                    <a:cxn ang="0">
                      <a:pos x="T69" y="T71"/>
                    </a:cxn>
                    <a:cxn ang="0">
                      <a:pos x="T73" y="T75"/>
                    </a:cxn>
                    <a:cxn ang="0">
                      <a:pos x="T77" y="T79"/>
                    </a:cxn>
                    <a:cxn ang="0">
                      <a:pos x="T81" y="T83"/>
                    </a:cxn>
                    <a:cxn ang="0">
                      <a:pos x="T85" y="T87"/>
                    </a:cxn>
                    <a:cxn ang="0">
                      <a:pos x="T89" y="T91"/>
                    </a:cxn>
                    <a:cxn ang="0">
                      <a:pos x="T93" y="T95"/>
                    </a:cxn>
                    <a:cxn ang="0">
                      <a:pos x="T97" y="T99"/>
                    </a:cxn>
                    <a:cxn ang="0">
                      <a:pos x="T101" y="T103"/>
                    </a:cxn>
                    <a:cxn ang="0">
                      <a:pos x="T105" y="T107"/>
                    </a:cxn>
                    <a:cxn ang="0">
                      <a:pos x="T109" y="T111"/>
                    </a:cxn>
                    <a:cxn ang="0">
                      <a:pos x="T113" y="T115"/>
                    </a:cxn>
                    <a:cxn ang="0">
                      <a:pos x="T117" y="T119"/>
                    </a:cxn>
                    <a:cxn ang="0">
                      <a:pos x="T121" y="T123"/>
                    </a:cxn>
                    <a:cxn ang="0">
                      <a:pos x="T125" y="T127"/>
                    </a:cxn>
                    <a:cxn ang="0">
                      <a:pos x="T129" y="T131"/>
                    </a:cxn>
                    <a:cxn ang="0">
                      <a:pos x="T133" y="T135"/>
                    </a:cxn>
                    <a:cxn ang="0">
                      <a:pos x="T137" y="T139"/>
                    </a:cxn>
                    <a:cxn ang="0">
                      <a:pos x="T141" y="T143"/>
                    </a:cxn>
                    <a:cxn ang="0">
                      <a:pos x="T145" y="T147"/>
                    </a:cxn>
                    <a:cxn ang="0">
                      <a:pos x="T149" y="T151"/>
                    </a:cxn>
                  </a:cxnLst>
                  <a:rect l="0" t="0" r="r" b="b"/>
                  <a:pathLst>
                    <a:path w="2734" h="120">
                      <a:moveTo>
                        <a:pt x="2614" y="0"/>
                      </a:moveTo>
                      <a:lnTo>
                        <a:pt x="2614" y="120"/>
                      </a:lnTo>
                      <a:lnTo>
                        <a:pt x="2694" y="80"/>
                      </a:lnTo>
                      <a:lnTo>
                        <a:pt x="2634" y="80"/>
                      </a:lnTo>
                      <a:lnTo>
                        <a:pt x="2634" y="40"/>
                      </a:lnTo>
                      <a:lnTo>
                        <a:pt x="2694" y="40"/>
                      </a:lnTo>
                      <a:lnTo>
                        <a:pt x="2614" y="0"/>
                      </a:lnTo>
                      <a:close/>
                      <a:moveTo>
                        <a:pt x="2614" y="40"/>
                      </a:moveTo>
                      <a:lnTo>
                        <a:pt x="2474" y="40"/>
                      </a:lnTo>
                      <a:lnTo>
                        <a:pt x="2474" y="80"/>
                      </a:lnTo>
                      <a:lnTo>
                        <a:pt x="2614" y="80"/>
                      </a:lnTo>
                      <a:lnTo>
                        <a:pt x="2614" y="40"/>
                      </a:lnTo>
                      <a:close/>
                      <a:moveTo>
                        <a:pt x="2694" y="40"/>
                      </a:moveTo>
                      <a:lnTo>
                        <a:pt x="2634" y="40"/>
                      </a:lnTo>
                      <a:lnTo>
                        <a:pt x="2634" y="80"/>
                      </a:lnTo>
                      <a:lnTo>
                        <a:pt x="2694" y="80"/>
                      </a:lnTo>
                      <a:lnTo>
                        <a:pt x="2734" y="60"/>
                      </a:lnTo>
                      <a:lnTo>
                        <a:pt x="2694" y="40"/>
                      </a:lnTo>
                      <a:close/>
                      <a:moveTo>
                        <a:pt x="2354" y="40"/>
                      </a:moveTo>
                      <a:lnTo>
                        <a:pt x="2194" y="40"/>
                      </a:lnTo>
                      <a:lnTo>
                        <a:pt x="2194" y="80"/>
                      </a:lnTo>
                      <a:lnTo>
                        <a:pt x="2354" y="80"/>
                      </a:lnTo>
                      <a:lnTo>
                        <a:pt x="2354" y="40"/>
                      </a:lnTo>
                      <a:close/>
                      <a:moveTo>
                        <a:pt x="2074" y="40"/>
                      </a:moveTo>
                      <a:lnTo>
                        <a:pt x="1914" y="40"/>
                      </a:lnTo>
                      <a:lnTo>
                        <a:pt x="1914" y="80"/>
                      </a:lnTo>
                      <a:lnTo>
                        <a:pt x="2074" y="80"/>
                      </a:lnTo>
                      <a:lnTo>
                        <a:pt x="2074" y="40"/>
                      </a:lnTo>
                      <a:close/>
                      <a:moveTo>
                        <a:pt x="1794" y="40"/>
                      </a:moveTo>
                      <a:lnTo>
                        <a:pt x="1634" y="40"/>
                      </a:lnTo>
                      <a:lnTo>
                        <a:pt x="1634" y="80"/>
                      </a:lnTo>
                      <a:lnTo>
                        <a:pt x="1794" y="80"/>
                      </a:lnTo>
                      <a:lnTo>
                        <a:pt x="1794" y="40"/>
                      </a:lnTo>
                      <a:close/>
                      <a:moveTo>
                        <a:pt x="1514" y="40"/>
                      </a:moveTo>
                      <a:lnTo>
                        <a:pt x="1354" y="40"/>
                      </a:lnTo>
                      <a:lnTo>
                        <a:pt x="1354" y="80"/>
                      </a:lnTo>
                      <a:lnTo>
                        <a:pt x="1514" y="80"/>
                      </a:lnTo>
                      <a:lnTo>
                        <a:pt x="1514" y="40"/>
                      </a:lnTo>
                      <a:close/>
                      <a:moveTo>
                        <a:pt x="1234" y="40"/>
                      </a:moveTo>
                      <a:lnTo>
                        <a:pt x="1074" y="40"/>
                      </a:lnTo>
                      <a:lnTo>
                        <a:pt x="1074" y="80"/>
                      </a:lnTo>
                      <a:lnTo>
                        <a:pt x="1234" y="80"/>
                      </a:lnTo>
                      <a:lnTo>
                        <a:pt x="1234" y="40"/>
                      </a:lnTo>
                      <a:close/>
                      <a:moveTo>
                        <a:pt x="954" y="40"/>
                      </a:moveTo>
                      <a:lnTo>
                        <a:pt x="794" y="40"/>
                      </a:lnTo>
                      <a:lnTo>
                        <a:pt x="794" y="80"/>
                      </a:lnTo>
                      <a:lnTo>
                        <a:pt x="954" y="80"/>
                      </a:lnTo>
                      <a:lnTo>
                        <a:pt x="954" y="40"/>
                      </a:lnTo>
                      <a:close/>
                      <a:moveTo>
                        <a:pt x="674" y="40"/>
                      </a:moveTo>
                      <a:lnTo>
                        <a:pt x="514" y="40"/>
                      </a:lnTo>
                      <a:lnTo>
                        <a:pt x="514" y="80"/>
                      </a:lnTo>
                      <a:lnTo>
                        <a:pt x="674" y="80"/>
                      </a:lnTo>
                      <a:lnTo>
                        <a:pt x="674" y="40"/>
                      </a:lnTo>
                      <a:close/>
                      <a:moveTo>
                        <a:pt x="394" y="40"/>
                      </a:moveTo>
                      <a:lnTo>
                        <a:pt x="234" y="40"/>
                      </a:lnTo>
                      <a:lnTo>
                        <a:pt x="234" y="80"/>
                      </a:lnTo>
                      <a:lnTo>
                        <a:pt x="394" y="80"/>
                      </a:lnTo>
                      <a:lnTo>
                        <a:pt x="394" y="40"/>
                      </a:lnTo>
                      <a:close/>
                      <a:moveTo>
                        <a:pt x="120" y="0"/>
                      </a:moveTo>
                      <a:lnTo>
                        <a:pt x="0" y="60"/>
                      </a:lnTo>
                      <a:lnTo>
                        <a:pt x="120" y="120"/>
                      </a:lnTo>
                      <a:lnTo>
                        <a:pt x="120" y="80"/>
                      </a:lnTo>
                      <a:lnTo>
                        <a:pt x="100" y="80"/>
                      </a:lnTo>
                      <a:lnTo>
                        <a:pt x="100" y="40"/>
                      </a:lnTo>
                      <a:lnTo>
                        <a:pt x="120" y="40"/>
                      </a:lnTo>
                      <a:lnTo>
                        <a:pt x="120" y="0"/>
                      </a:lnTo>
                      <a:close/>
                      <a:moveTo>
                        <a:pt x="114" y="40"/>
                      </a:moveTo>
                      <a:lnTo>
                        <a:pt x="100" y="40"/>
                      </a:lnTo>
                      <a:lnTo>
                        <a:pt x="100" y="80"/>
                      </a:lnTo>
                      <a:lnTo>
                        <a:pt x="114" y="80"/>
                      </a:lnTo>
                      <a:lnTo>
                        <a:pt x="114" y="40"/>
                      </a:lnTo>
                      <a:close/>
                      <a:moveTo>
                        <a:pt x="120" y="40"/>
                      </a:moveTo>
                      <a:lnTo>
                        <a:pt x="114" y="40"/>
                      </a:lnTo>
                      <a:lnTo>
                        <a:pt x="114" y="80"/>
                      </a:lnTo>
                      <a:lnTo>
                        <a:pt x="120" y="80"/>
                      </a:lnTo>
                      <a:lnTo>
                        <a:pt x="120" y="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3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0" name="AutoShape 41"/>
                <p:cNvSpPr>
                  <a:spLocks/>
                </p:cNvSpPr>
                <p:nvPr/>
              </p:nvSpPr>
              <p:spPr bwMode="auto">
                <a:xfrm>
                  <a:off x="7086673" y="1158643"/>
                  <a:ext cx="107527" cy="661087"/>
                </a:xfrm>
                <a:custGeom>
                  <a:avLst/>
                  <a:gdLst>
                    <a:gd name="T0" fmla="+- 0 8200 8160"/>
                    <a:gd name="T1" fmla="*/ T0 w 120"/>
                    <a:gd name="T2" fmla="+- 0 1683 906"/>
                    <a:gd name="T3" fmla="*/ 1683 h 897"/>
                    <a:gd name="T4" fmla="+- 0 8160 8160"/>
                    <a:gd name="T5" fmla="*/ T4 w 120"/>
                    <a:gd name="T6" fmla="+- 0 1683 906"/>
                    <a:gd name="T7" fmla="*/ 1683 h 897"/>
                    <a:gd name="T8" fmla="+- 0 8220 8160"/>
                    <a:gd name="T9" fmla="*/ T8 w 120"/>
                    <a:gd name="T10" fmla="+- 0 1803 906"/>
                    <a:gd name="T11" fmla="*/ 1803 h 897"/>
                    <a:gd name="T12" fmla="+- 0 8270 8160"/>
                    <a:gd name="T13" fmla="*/ T12 w 120"/>
                    <a:gd name="T14" fmla="+- 0 1703 906"/>
                    <a:gd name="T15" fmla="*/ 1703 h 897"/>
                    <a:gd name="T16" fmla="+- 0 8200 8160"/>
                    <a:gd name="T17" fmla="*/ T16 w 120"/>
                    <a:gd name="T18" fmla="+- 0 1703 906"/>
                    <a:gd name="T19" fmla="*/ 1703 h 897"/>
                    <a:gd name="T20" fmla="+- 0 8200 8160"/>
                    <a:gd name="T21" fmla="*/ T20 w 120"/>
                    <a:gd name="T22" fmla="+- 0 1683 906"/>
                    <a:gd name="T23" fmla="*/ 1683 h 897"/>
                    <a:gd name="T24" fmla="+- 0 8240 8160"/>
                    <a:gd name="T25" fmla="*/ T24 w 120"/>
                    <a:gd name="T26" fmla="+- 0 906 906"/>
                    <a:gd name="T27" fmla="*/ 906 h 897"/>
                    <a:gd name="T28" fmla="+- 0 8200 8160"/>
                    <a:gd name="T29" fmla="*/ T28 w 120"/>
                    <a:gd name="T30" fmla="+- 0 906 906"/>
                    <a:gd name="T31" fmla="*/ 906 h 897"/>
                    <a:gd name="T32" fmla="+- 0 8200 8160"/>
                    <a:gd name="T33" fmla="*/ T32 w 120"/>
                    <a:gd name="T34" fmla="+- 0 1703 906"/>
                    <a:gd name="T35" fmla="*/ 1703 h 897"/>
                    <a:gd name="T36" fmla="+- 0 8240 8160"/>
                    <a:gd name="T37" fmla="*/ T36 w 120"/>
                    <a:gd name="T38" fmla="+- 0 1703 906"/>
                    <a:gd name="T39" fmla="*/ 1703 h 897"/>
                    <a:gd name="T40" fmla="+- 0 8240 8160"/>
                    <a:gd name="T41" fmla="*/ T40 w 120"/>
                    <a:gd name="T42" fmla="+- 0 906 906"/>
                    <a:gd name="T43" fmla="*/ 906 h 897"/>
                    <a:gd name="T44" fmla="+- 0 8280 8160"/>
                    <a:gd name="T45" fmla="*/ T44 w 120"/>
                    <a:gd name="T46" fmla="+- 0 1683 906"/>
                    <a:gd name="T47" fmla="*/ 1683 h 897"/>
                    <a:gd name="T48" fmla="+- 0 8240 8160"/>
                    <a:gd name="T49" fmla="*/ T48 w 120"/>
                    <a:gd name="T50" fmla="+- 0 1683 906"/>
                    <a:gd name="T51" fmla="*/ 1683 h 897"/>
                    <a:gd name="T52" fmla="+- 0 8240 8160"/>
                    <a:gd name="T53" fmla="*/ T52 w 120"/>
                    <a:gd name="T54" fmla="+- 0 1703 906"/>
                    <a:gd name="T55" fmla="*/ 1703 h 897"/>
                    <a:gd name="T56" fmla="+- 0 8270 8160"/>
                    <a:gd name="T57" fmla="*/ T56 w 120"/>
                    <a:gd name="T58" fmla="+- 0 1703 906"/>
                    <a:gd name="T59" fmla="*/ 1703 h 897"/>
                    <a:gd name="T60" fmla="+- 0 8280 8160"/>
                    <a:gd name="T61" fmla="*/ T60 w 120"/>
                    <a:gd name="T62" fmla="+- 0 1683 906"/>
                    <a:gd name="T63" fmla="*/ 1683 h 897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  <a:cxn ang="0">
                      <a:pos x="T17" y="T19"/>
                    </a:cxn>
                    <a:cxn ang="0">
                      <a:pos x="T21" y="T23"/>
                    </a:cxn>
                    <a:cxn ang="0">
                      <a:pos x="T25" y="T27"/>
                    </a:cxn>
                    <a:cxn ang="0">
                      <a:pos x="T29" y="T31"/>
                    </a:cxn>
                    <a:cxn ang="0">
                      <a:pos x="T33" y="T35"/>
                    </a:cxn>
                    <a:cxn ang="0">
                      <a:pos x="T37" y="T39"/>
                    </a:cxn>
                    <a:cxn ang="0">
                      <a:pos x="T41" y="T43"/>
                    </a:cxn>
                    <a:cxn ang="0">
                      <a:pos x="T45" y="T47"/>
                    </a:cxn>
                    <a:cxn ang="0">
                      <a:pos x="T49" y="T51"/>
                    </a:cxn>
                    <a:cxn ang="0">
                      <a:pos x="T53" y="T55"/>
                    </a:cxn>
                    <a:cxn ang="0">
                      <a:pos x="T57" y="T59"/>
                    </a:cxn>
                    <a:cxn ang="0">
                      <a:pos x="T61" y="T63"/>
                    </a:cxn>
                  </a:cxnLst>
                  <a:rect l="0" t="0" r="r" b="b"/>
                  <a:pathLst>
                    <a:path w="120" h="897">
                      <a:moveTo>
                        <a:pt x="40" y="777"/>
                      </a:moveTo>
                      <a:lnTo>
                        <a:pt x="0" y="777"/>
                      </a:lnTo>
                      <a:lnTo>
                        <a:pt x="60" y="897"/>
                      </a:lnTo>
                      <a:lnTo>
                        <a:pt x="110" y="797"/>
                      </a:lnTo>
                      <a:lnTo>
                        <a:pt x="40" y="797"/>
                      </a:lnTo>
                      <a:lnTo>
                        <a:pt x="40" y="777"/>
                      </a:lnTo>
                      <a:close/>
                      <a:moveTo>
                        <a:pt x="80" y="0"/>
                      </a:moveTo>
                      <a:lnTo>
                        <a:pt x="40" y="0"/>
                      </a:lnTo>
                      <a:lnTo>
                        <a:pt x="40" y="797"/>
                      </a:lnTo>
                      <a:lnTo>
                        <a:pt x="80" y="797"/>
                      </a:lnTo>
                      <a:lnTo>
                        <a:pt x="80" y="0"/>
                      </a:lnTo>
                      <a:close/>
                      <a:moveTo>
                        <a:pt x="120" y="777"/>
                      </a:moveTo>
                      <a:lnTo>
                        <a:pt x="80" y="777"/>
                      </a:lnTo>
                      <a:lnTo>
                        <a:pt x="80" y="797"/>
                      </a:lnTo>
                      <a:lnTo>
                        <a:pt x="110" y="797"/>
                      </a:lnTo>
                      <a:lnTo>
                        <a:pt x="120" y="77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3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1" name="Rectangle 40"/>
                <p:cNvSpPr>
                  <a:spLocks noChangeArrowheads="1"/>
                </p:cNvSpPr>
                <p:nvPr/>
              </p:nvSpPr>
              <p:spPr bwMode="auto">
                <a:xfrm>
                  <a:off x="6478698" y="1825112"/>
                  <a:ext cx="1628493" cy="70952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3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" name="Rectangle 42"/>
                <p:cNvSpPr>
                  <a:spLocks noChangeArrowheads="1"/>
                </p:cNvSpPr>
                <p:nvPr/>
              </p:nvSpPr>
              <p:spPr bwMode="auto">
                <a:xfrm>
                  <a:off x="1438835" y="3750066"/>
                  <a:ext cx="1071294" cy="724773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3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7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3594879" y="540837"/>
                  <a:ext cx="3989869" cy="687996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374650" marR="208915" lvl="0" indent="-152400" algn="ctr" defTabSz="914400" eaLnBrk="1" fontAlgn="auto" latinLnBrk="0" hangingPunct="1">
                    <a:spcBef>
                      <a:spcPts val="305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1400" kern="0" dirty="0" smtClean="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LÃNH ĐẠO </a:t>
                  </a:r>
                  <a:r>
                    <a:rPr kumimoji="0" lang="vi-VN" sz="14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VIỆN/</a:t>
                  </a:r>
                  <a:endParaRPr kumimoji="0" lang="en-US" sz="1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marL="374650" marR="208915" lvl="0" indent="-152400" algn="ctr" defTabSz="914400" eaLnBrk="1" fontAlgn="auto" latinLnBrk="0" hangingPunct="1">
                    <a:spcBef>
                      <a:spcPts val="305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vi-VN" sz="14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TRƯỞNG</a:t>
                  </a:r>
                  <a:r>
                    <a:rPr kumimoji="0" lang="vi-VN" sz="1400" b="0" i="0" u="none" strike="noStrike" kern="0" cap="none" spc="-315" normalizeH="0" baseline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400" kern="0" spc="-315" dirty="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400" kern="0" spc="-315" dirty="0" smtClean="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kumimoji="0" lang="vi-VN" sz="14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BAN</a:t>
                  </a:r>
                  <a:r>
                    <a:rPr kumimoji="0" lang="vi-VN" sz="1400" b="0" i="0" u="none" strike="noStrike" kern="0" cap="none" spc="-15" normalizeH="0" baseline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kumimoji="0" lang="vi-VN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ISO VILAS</a:t>
                  </a:r>
                  <a:r>
                    <a:rPr kumimoji="0" lang="vi-VN" sz="1400" b="0" i="0" u="none" strike="noStrike" kern="0" cap="none" spc="5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kumimoji="0" lang="vi-VN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-</a:t>
                  </a:r>
                  <a:r>
                    <a:rPr kumimoji="0" lang="vi-VN" sz="1400" b="0" i="0" u="none" strike="noStrike" kern="0" cap="none" spc="-1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kumimoji="0" lang="vi-VN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548</a:t>
                  </a:r>
                  <a:endPara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8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5287501" y="3776079"/>
                  <a:ext cx="843243" cy="1051280"/>
                </a:xfrm>
                <a:prstGeom prst="rect">
                  <a:avLst/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153670" marR="144780" lvl="0" indent="74295" algn="ctr" defTabSz="914400" eaLnBrk="1" fontAlgn="auto" latinLnBrk="0" hangingPunct="1">
                    <a:lnSpc>
                      <a:spcPct val="125000"/>
                    </a:lnSpc>
                    <a:spcBef>
                      <a:spcPts val="34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vi-VN" sz="1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Phòng</a:t>
                  </a:r>
                  <a:r>
                    <a:rPr kumimoji="0" lang="vi-VN" sz="1300" b="0" i="0" u="none" strike="noStrike" kern="0" cap="none" spc="5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kumimoji="0" lang="vi-VN" sz="1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SHPT, </a:t>
                  </a:r>
                  <a:endParaRPr kumimoji="0" lang="en-US" sz="13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marL="152400" marR="144780" lvl="0" indent="-31750" algn="ctr" defTabSz="914400" eaLnBrk="1" fontAlgn="auto" latinLnBrk="0" hangingPunct="1">
                    <a:lnSpc>
                      <a:spcPct val="125000"/>
                    </a:lnSpc>
                    <a:spcBef>
                      <a:spcPts val="34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vi-VN" sz="13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CN </a:t>
                  </a:r>
                  <a:r>
                    <a:rPr kumimoji="0" lang="vi-VN" sz="1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gen</a:t>
                  </a:r>
                  <a:endParaRPr kumimoji="0" lang="en-US" sz="13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9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4274983" y="3778770"/>
                  <a:ext cx="894966" cy="1048589"/>
                </a:xfrm>
                <a:prstGeom prst="rect">
                  <a:avLst/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64770" marR="61595" lvl="0" indent="28575" algn="ctr" defTabSz="914400" eaLnBrk="1" fontAlgn="auto" latinLnBrk="0" hangingPunct="1">
                    <a:lnSpc>
                      <a:spcPct val="125000"/>
                    </a:lnSpc>
                    <a:spcBef>
                      <a:spcPts val="34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vi-VN" sz="1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Phòng </a:t>
                  </a:r>
                  <a:r>
                    <a:rPr kumimoji="0" lang="en-US" sz="1300" b="0" i="0" u="none" strike="noStrike" kern="0" cap="none" spc="0" normalizeH="0" baseline="0" noProof="0" dirty="0" err="1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Khoa</a:t>
                  </a:r>
                  <a:r>
                    <a:rPr kumimoji="0" lang="en-US" sz="1300" b="0" i="0" u="none" strike="noStrike" kern="0" cap="none" spc="0" normalizeH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kumimoji="0" lang="en-US" sz="1300" b="0" i="0" u="none" strike="noStrike" kern="0" cap="none" spc="0" normalizeH="0" noProof="0" dirty="0" err="1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học</a:t>
                  </a:r>
                  <a:r>
                    <a:rPr kumimoji="0" lang="en-US" sz="1300" b="0" i="0" u="none" strike="noStrike" kern="0" cap="none" spc="0" normalizeH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kumimoji="0" lang="en-US" sz="1300" b="0" i="0" u="none" strike="noStrike" kern="0" cap="none" spc="0" normalizeH="0" noProof="0" dirty="0" err="1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Kỹ</a:t>
                  </a:r>
                  <a:r>
                    <a:rPr kumimoji="0" lang="en-US" sz="1300" b="0" i="0" u="none" strike="noStrike" kern="0" cap="none" spc="0" normalizeH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kumimoji="0" lang="en-US" sz="1300" b="0" i="0" u="none" strike="noStrike" kern="0" cap="none" spc="0" normalizeH="0" noProof="0" dirty="0" err="1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thuật</a:t>
                  </a:r>
                  <a:r>
                    <a:rPr kumimoji="0" lang="en-US" sz="1300" b="0" i="0" u="none" strike="noStrike" kern="0" cap="none" spc="0" normalizeH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kumimoji="0" lang="en-US" sz="1300" b="0" i="0" u="none" strike="noStrike" kern="0" cap="none" spc="0" normalizeH="0" noProof="0" dirty="0" err="1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Môi</a:t>
                  </a:r>
                  <a:r>
                    <a:rPr kumimoji="0" lang="en-US" sz="1300" b="0" i="0" u="none" strike="noStrike" kern="0" cap="none" spc="0" normalizeH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kumimoji="0" lang="en-US" sz="1300" b="0" i="0" u="none" strike="noStrike" kern="0" cap="none" spc="0" normalizeH="0" noProof="0" dirty="0" err="1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trường</a:t>
                  </a:r>
                  <a:endParaRPr kumimoji="0" lang="en-US" sz="13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3275004" y="3764418"/>
                  <a:ext cx="882427" cy="1062941"/>
                </a:xfrm>
                <a:prstGeom prst="rect">
                  <a:avLst/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53975" marR="213360" lvl="0" algn="ctr" defTabSz="914400" eaLnBrk="1" fontAlgn="auto" latinLnBrk="0" hangingPunct="1">
                    <a:lnSpc>
                      <a:spcPct val="125000"/>
                    </a:lnSpc>
                    <a:spcBef>
                      <a:spcPts val="34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vi-VN" sz="13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Phòng</a:t>
                  </a:r>
                  <a:r>
                    <a:rPr kumimoji="0" lang="en-US" sz="13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kumimoji="0" lang="vi-VN" sz="1300" b="0" i="0" u="none" strike="noStrike" kern="0" cap="none" spc="-285" normalizeH="0" baseline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kumimoji="0" lang="vi-VN" sz="1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Hóa</a:t>
                  </a:r>
                  <a:r>
                    <a:rPr kumimoji="0" lang="en-US" sz="1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kumimoji="0" lang="en-US" sz="1300" b="0" i="0" u="none" strike="noStrike" kern="0" cap="none" spc="0" normalizeH="0" baseline="0" noProof="0" dirty="0" err="1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sinh</a:t>
                  </a:r>
                  <a:r>
                    <a:rPr kumimoji="0" lang="en-US" sz="13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– HCSH</a:t>
                  </a:r>
                </a:p>
                <a:p>
                  <a:pPr marL="294005" marR="213360" lvl="0" indent="-67310" algn="ctr" defTabSz="914400" eaLnBrk="1" fontAlgn="auto" latinLnBrk="0" hangingPunct="1">
                    <a:lnSpc>
                      <a:spcPct val="125000"/>
                    </a:lnSpc>
                    <a:spcBef>
                      <a:spcPts val="34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3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UD</a:t>
                  </a:r>
                  <a:endParaRPr kumimoji="0" lang="en-US" sz="13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2155905" y="3764418"/>
                  <a:ext cx="1001546" cy="1062941"/>
                </a:xfrm>
                <a:prstGeom prst="rect">
                  <a:avLst/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142875" marR="137160" lvl="0" indent="31750" algn="ctr" defTabSz="914400" eaLnBrk="1" fontAlgn="auto" latinLnBrk="0" hangingPunct="1">
                    <a:lnSpc>
                      <a:spcPct val="125000"/>
                    </a:lnSpc>
                    <a:spcBef>
                      <a:spcPts val="34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vi-VN" sz="1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Phòng</a:t>
                  </a:r>
                  <a:r>
                    <a:rPr kumimoji="0" lang="vi-VN" sz="1300" b="0" i="0" u="none" strike="noStrike" kern="0" cap="none" spc="5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kumimoji="0" lang="en-US" sz="1300" b="0" i="0" u="none" strike="noStrike" kern="0" cap="none" spc="5" normalizeH="0" baseline="0" noProof="0" dirty="0" err="1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Môi</a:t>
                  </a:r>
                  <a:r>
                    <a:rPr kumimoji="0" lang="en-US" sz="1300" b="0" i="0" u="none" strike="noStrike" kern="0" cap="none" spc="5" normalizeH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kumimoji="0" lang="en-US" sz="1300" b="0" i="0" u="none" strike="noStrike" kern="0" cap="none" spc="5" normalizeH="0" baseline="0" noProof="0" dirty="0" err="1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Trường</a:t>
                  </a:r>
                  <a:r>
                    <a:rPr kumimoji="0" lang="en-US" sz="1300" b="0" i="0" u="none" strike="noStrike" kern="0" cap="none" spc="5" normalizeH="0" baseline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kumimoji="0" lang="en-US" sz="1300" b="0" i="0" u="none" strike="noStrike" kern="0" cap="none" spc="5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– </a:t>
                  </a:r>
                  <a:r>
                    <a:rPr kumimoji="0" lang="vi-VN" sz="13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Đất</a:t>
                  </a:r>
                  <a:r>
                    <a:rPr kumimoji="0" lang="vi-VN" sz="1300" b="0" i="0" u="none" strike="noStrike" kern="0" cap="none" spc="-40" normalizeH="0" baseline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kumimoji="0" lang="vi-VN" sz="1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–</a:t>
                  </a:r>
                  <a:r>
                    <a:rPr kumimoji="0" lang="vi-VN" sz="1300" b="0" i="0" u="none" strike="noStrike" kern="0" cap="none" spc="-35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kumimoji="0" lang="vi-VN" sz="1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PB</a:t>
                  </a:r>
                  <a:endParaRPr kumimoji="0" lang="en-US" sz="13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2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1156709" y="3768006"/>
                  <a:ext cx="897317" cy="1059353"/>
                </a:xfrm>
                <a:prstGeom prst="rect">
                  <a:avLst/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198755" marR="194310" lvl="0" indent="28575" algn="ctr" defTabSz="914400" eaLnBrk="1" fontAlgn="auto" latinLnBrk="0" hangingPunct="1">
                    <a:lnSpc>
                      <a:spcPct val="125000"/>
                    </a:lnSpc>
                    <a:spcBef>
                      <a:spcPts val="34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300" b="0" i="0" u="none" strike="noStrike" kern="0" cap="none" spc="0" normalizeH="0" baseline="0" noProof="0" dirty="0" err="1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Phòng</a:t>
                  </a:r>
                  <a:endParaRPr kumimoji="0" lang="en-US" sz="13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marL="198438" marR="194310" lvl="0" indent="30163" algn="ctr" defTabSz="1035050" eaLnBrk="1" fontAlgn="auto" latinLnBrk="0" hangingPunct="1">
                    <a:lnSpc>
                      <a:spcPct val="125000"/>
                    </a:lnSpc>
                    <a:spcBef>
                      <a:spcPts val="34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300" b="0" i="0" u="none" strike="noStrike" kern="0" cap="none" spc="0" normalizeH="0" baseline="0" noProof="0" dirty="0" err="1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Công</a:t>
                  </a:r>
                  <a:r>
                    <a:rPr kumimoji="0" lang="en-US" sz="1300" b="0" i="0" u="none" strike="noStrike" kern="0" cap="none" spc="0" normalizeH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kumimoji="0" lang="en-US" sz="1300" b="0" i="0" u="none" strike="noStrike" kern="0" cap="none" spc="0" normalizeH="0" noProof="0" dirty="0" err="1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nghệ</a:t>
                  </a:r>
                  <a:r>
                    <a:rPr kumimoji="0" lang="en-US" sz="13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kumimoji="0" lang="vi-VN" sz="13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Vi</a:t>
                  </a:r>
                  <a:r>
                    <a:rPr kumimoji="0" lang="vi-VN" sz="1300" b="0" i="0" u="none" strike="noStrike" kern="0" cap="none" spc="-65" normalizeH="0" baseline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kumimoji="0" lang="vi-VN" sz="13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sinh</a:t>
                  </a:r>
                  <a:endParaRPr kumimoji="0" lang="en-US" sz="13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3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283687" y="3749169"/>
                  <a:ext cx="778981" cy="1078190"/>
                </a:xfrm>
                <a:prstGeom prst="rect">
                  <a:avLst/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104775" marR="102870" lvl="0" indent="121920" algn="ctr" defTabSz="914400" eaLnBrk="1" fontAlgn="auto" latinLnBrk="0" hangingPunct="1">
                    <a:lnSpc>
                      <a:spcPct val="125000"/>
                    </a:lnSpc>
                    <a:spcBef>
                      <a:spcPts val="335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vi-VN" sz="1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Phòng</a:t>
                  </a:r>
                  <a:r>
                    <a:rPr kumimoji="0" lang="vi-VN" sz="1300" b="0" i="0" u="none" strike="noStrike" kern="0" cap="none" spc="5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kumimoji="0" lang="vi-VN" sz="1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Nhận</a:t>
                  </a:r>
                  <a:r>
                    <a:rPr kumimoji="0" lang="vi-VN" sz="1300" b="0" i="0" u="none" strike="noStrike" kern="0" cap="none" spc="-7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kumimoji="0" lang="vi-VN" sz="1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mẫu</a:t>
                  </a:r>
                  <a:endParaRPr kumimoji="0" lang="en-US" sz="13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4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6545933" y="1825112"/>
                  <a:ext cx="1628493" cy="709524"/>
                </a:xfrm>
                <a:prstGeom prst="rect">
                  <a:avLst/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227965" marR="223520" lvl="0" indent="50165" algn="ctr" defTabSz="914400" eaLnBrk="1" fontAlgn="auto" latinLnBrk="0" hangingPunct="1">
                    <a:lnSpc>
                      <a:spcPct val="150000"/>
                    </a:lnSpc>
                    <a:spcBef>
                      <a:spcPts val="1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vi-VN" sz="1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QUẢN LÝ</a:t>
                  </a:r>
                  <a:r>
                    <a:rPr kumimoji="0" lang="vi-VN" sz="1300" b="0" i="0" u="none" strike="noStrike" kern="0" cap="none" spc="5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kumimoji="0" lang="en-US" sz="1300" b="0" i="0" u="none" strike="noStrike" kern="0" cap="none" spc="5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marL="227965" marR="223520" lvl="0" indent="50165" algn="ctr" defTabSz="914400" eaLnBrk="1" fontAlgn="auto" latinLnBrk="0" hangingPunct="1">
                    <a:lnSpc>
                      <a:spcPct val="150000"/>
                    </a:lnSpc>
                    <a:spcBef>
                      <a:spcPts val="1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vi-VN" sz="13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KỸ</a:t>
                  </a:r>
                  <a:r>
                    <a:rPr kumimoji="0" lang="vi-VN" sz="1300" b="0" i="0" u="none" strike="noStrike" kern="0" cap="none" spc="-75" normalizeH="0" baseline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kumimoji="0" lang="vi-VN" sz="1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THUẬT</a:t>
                  </a:r>
                  <a:endParaRPr kumimoji="0" lang="en-US" sz="13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5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2735420" y="1819730"/>
                  <a:ext cx="1628493" cy="732846"/>
                </a:xfrm>
                <a:prstGeom prst="rect">
                  <a:avLst/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107950" marR="105410" lvl="0" indent="12700" algn="ctr" defTabSz="914400" eaLnBrk="1" fontAlgn="auto" latinLnBrk="0" hangingPunct="1">
                    <a:lnSpc>
                      <a:spcPct val="150000"/>
                    </a:lnSpc>
                    <a:spcBef>
                      <a:spcPts val="55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vi-VN" sz="1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QUẢN LÝ</a:t>
                  </a:r>
                  <a:r>
                    <a:rPr kumimoji="0" lang="vi-VN" sz="1300" b="0" i="0" u="none" strike="noStrike" kern="0" cap="none" spc="5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kumimoji="0" lang="en-US" sz="1300" b="0" i="0" u="none" strike="noStrike" kern="0" cap="none" spc="5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marL="107950" marR="105410" lvl="0" indent="168910" algn="ctr" defTabSz="914400" eaLnBrk="1" fontAlgn="auto" latinLnBrk="0" hangingPunct="1">
                    <a:lnSpc>
                      <a:spcPct val="150000"/>
                    </a:lnSpc>
                    <a:spcBef>
                      <a:spcPts val="55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vi-VN" sz="13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CHẤT</a:t>
                  </a:r>
                  <a:r>
                    <a:rPr kumimoji="0" lang="vi-VN" sz="1300" b="0" i="0" u="none" strike="noStrike" kern="0" cap="none" spc="-75" normalizeH="0" baseline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kumimoji="0" lang="vi-VN" sz="1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LƯỢNG</a:t>
                  </a:r>
                  <a:endParaRPr kumimoji="0" lang="en-US" sz="13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6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6249842" y="3769694"/>
                  <a:ext cx="944359" cy="1062941"/>
                </a:xfrm>
                <a:prstGeom prst="rect">
                  <a:avLst/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53975" marR="213360" lvl="0" algn="ctr" defTabSz="914400" eaLnBrk="1" fontAlgn="auto" latinLnBrk="0" hangingPunct="1">
                    <a:lnSpc>
                      <a:spcPct val="125000"/>
                    </a:lnSpc>
                    <a:spcBef>
                      <a:spcPts val="34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vi-VN" sz="13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Phòng</a:t>
                  </a:r>
                  <a:r>
                    <a:rPr kumimoji="0" lang="en-US" sz="13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kumimoji="0" lang="vi-VN" sz="1300" b="0" i="0" u="none" strike="noStrike" kern="0" cap="none" spc="-285" normalizeH="0" baseline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kumimoji="0" lang="en-US" sz="13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CN </a:t>
                  </a:r>
                  <a:r>
                    <a:rPr kumimoji="0" lang="en-US" sz="1300" b="0" i="0" u="none" strike="noStrike" kern="0" cap="none" spc="0" normalizeH="0" baseline="0" noProof="0" dirty="0" err="1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tế</a:t>
                  </a:r>
                  <a:r>
                    <a:rPr kumimoji="0" lang="en-US" sz="1300" b="0" i="0" u="none" strike="noStrike" kern="0" cap="none" spc="0" normalizeH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kumimoji="0" lang="en-US" sz="1300" b="0" i="0" u="none" strike="noStrike" kern="0" cap="none" spc="0" normalizeH="0" noProof="0" dirty="0" err="1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bào</a:t>
                  </a:r>
                  <a:r>
                    <a:rPr kumimoji="0" lang="en-US" sz="1300" b="0" i="0" u="none" strike="noStrike" kern="0" cap="none" spc="0" normalizeH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TV-PT </a:t>
                  </a:r>
                  <a:r>
                    <a:rPr kumimoji="0" lang="en-US" sz="1300" b="0" i="0" u="none" strike="noStrike" kern="0" cap="none" spc="0" normalizeH="0" noProof="0" dirty="0" err="1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dược</a:t>
                  </a:r>
                  <a:r>
                    <a:rPr kumimoji="0" lang="en-US" sz="1300" b="0" i="0" u="none" strike="noStrike" kern="0" cap="none" spc="0" normalizeH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kumimoji="0" lang="en-US" sz="1300" b="0" i="0" u="none" strike="noStrike" kern="0" cap="none" spc="0" normalizeH="0" noProof="0" dirty="0" err="1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liệu</a:t>
                  </a:r>
                  <a:endParaRPr kumimoji="0" lang="en-US" sz="13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7313299" y="3769694"/>
                  <a:ext cx="960795" cy="1062941"/>
                </a:xfrm>
                <a:prstGeom prst="rect">
                  <a:avLst/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53975" marR="213360" lvl="0" algn="ctr" defTabSz="968375" eaLnBrk="1" fontAlgn="auto" latinLnBrk="0" hangingPunct="1">
                    <a:lnSpc>
                      <a:spcPct val="125000"/>
                    </a:lnSpc>
                    <a:spcBef>
                      <a:spcPts val="34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vi-VN" sz="13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Phòng</a:t>
                  </a:r>
                  <a:r>
                    <a:rPr kumimoji="0" lang="en-US" sz="13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kumimoji="0" lang="vi-VN" sz="1300" b="0" i="0" u="none" strike="noStrike" kern="0" cap="none" spc="-285" normalizeH="0" baseline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300" kern="0" dirty="0" err="1" smtClean="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Sưc</a:t>
                  </a:r>
                  <a:r>
                    <a:rPr lang="en-US" sz="1300" kern="0" dirty="0" smtClean="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300" kern="0" dirty="0" err="1" smtClean="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khỏe</a:t>
                  </a:r>
                  <a:r>
                    <a:rPr lang="en-US" sz="1300" kern="0" dirty="0" smtClean="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300" kern="0" dirty="0" err="1" smtClean="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cây</a:t>
                  </a:r>
                  <a:r>
                    <a:rPr lang="en-US" sz="1300" kern="0" dirty="0" smtClean="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300" kern="0" dirty="0" err="1" smtClean="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trồng</a:t>
                  </a:r>
                  <a:r>
                    <a:rPr lang="en-US" sz="1300" kern="0" dirty="0" smtClean="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300" kern="0" dirty="0" err="1" smtClean="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và</a:t>
                  </a:r>
                  <a:r>
                    <a:rPr lang="en-US" sz="1300" kern="0" dirty="0" smtClean="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VS NN</a:t>
                  </a:r>
                  <a:endParaRPr kumimoji="0" lang="en-US" sz="13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8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8393193" y="3771593"/>
                  <a:ext cx="893420" cy="1062941"/>
                </a:xfrm>
                <a:prstGeom prst="rect">
                  <a:avLst/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53975" marR="213360" lvl="0" algn="ctr" defTabSz="968375" eaLnBrk="1" fontAlgn="auto" latinLnBrk="0" hangingPunct="1">
                    <a:lnSpc>
                      <a:spcPct val="125000"/>
                    </a:lnSpc>
                    <a:spcBef>
                      <a:spcPts val="34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vi-VN" sz="13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Phòng</a:t>
                  </a:r>
                  <a:r>
                    <a:rPr kumimoji="0" lang="en-US" sz="13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kumimoji="0" lang="vi-VN" sz="1300" b="0" i="0" u="none" strike="noStrike" kern="0" cap="none" spc="-285" normalizeH="0" baseline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300" kern="0" dirty="0" err="1" smtClean="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Nấm</a:t>
                  </a:r>
                  <a:r>
                    <a:rPr lang="en-US" sz="1300" kern="0" dirty="0" smtClean="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300" kern="0" dirty="0" err="1" smtClean="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ăn</a:t>
                  </a:r>
                  <a:r>
                    <a:rPr lang="en-US" sz="1300" kern="0" dirty="0" smtClean="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sz="1300" kern="0" dirty="0" err="1" smtClean="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nấm</a:t>
                  </a:r>
                  <a:r>
                    <a:rPr lang="en-US" sz="1300" kern="0" dirty="0" smtClean="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300" kern="0" dirty="0" err="1" smtClean="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dược</a:t>
                  </a:r>
                  <a:r>
                    <a:rPr lang="en-US" sz="1300" kern="0" dirty="0" smtClean="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300" kern="0" dirty="0" err="1" smtClean="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liệu</a:t>
                  </a:r>
                  <a:endParaRPr kumimoji="0" lang="en-US" sz="13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9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9405710" y="3764417"/>
                  <a:ext cx="960795" cy="1062941"/>
                </a:xfrm>
                <a:prstGeom prst="rect">
                  <a:avLst/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53975" marR="213360" lvl="0" algn="ctr" defTabSz="968375" eaLnBrk="1" fontAlgn="auto" latinLnBrk="0" hangingPunct="1">
                    <a:lnSpc>
                      <a:spcPct val="125000"/>
                    </a:lnSpc>
                    <a:spcBef>
                      <a:spcPts val="34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vi-VN" sz="13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Phòng</a:t>
                  </a:r>
                  <a:r>
                    <a:rPr kumimoji="0" lang="en-US" sz="13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kumimoji="0" lang="vi-VN" sz="1300" b="0" i="0" u="none" strike="noStrike" kern="0" cap="none" spc="-285" normalizeH="0" baseline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300" kern="0" dirty="0" err="1" smtClean="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Nông</a:t>
                  </a:r>
                  <a:r>
                    <a:rPr lang="en-US" sz="1300" kern="0" dirty="0" smtClean="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300" kern="0" dirty="0" err="1" smtClean="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nghiệp</a:t>
                  </a:r>
                  <a:r>
                    <a:rPr lang="en-US" sz="1300" kern="0" dirty="0" smtClean="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300" kern="0" dirty="0" err="1" smtClean="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tuần</a:t>
                  </a:r>
                  <a:r>
                    <a:rPr lang="en-US" sz="1300" kern="0" dirty="0" smtClean="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300" kern="0" dirty="0" err="1" smtClean="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hoàn</a:t>
                  </a:r>
                  <a:endParaRPr kumimoji="0" lang="en-US" sz="13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" name="Group 74"/>
                <p:cNvGrpSpPr/>
                <p:nvPr/>
              </p:nvGrpSpPr>
              <p:grpSpPr>
                <a:xfrm>
                  <a:off x="652295" y="4834534"/>
                  <a:ext cx="9233812" cy="570803"/>
                  <a:chOff x="699316" y="5319808"/>
                  <a:chExt cx="9233812" cy="570803"/>
                </a:xfrm>
              </p:grpSpPr>
              <p:sp>
                <p:nvSpPr>
                  <p:cNvPr id="42" name="AutoShape 39"/>
                  <p:cNvSpPr>
                    <a:spLocks/>
                  </p:cNvSpPr>
                  <p:nvPr/>
                </p:nvSpPr>
                <p:spPr bwMode="auto">
                  <a:xfrm>
                    <a:off x="1630976" y="5329227"/>
                    <a:ext cx="94042" cy="557035"/>
                  </a:xfrm>
                  <a:custGeom>
                    <a:avLst/>
                    <a:gdLst>
                      <a:gd name="T0" fmla="+- 0 1725 1645"/>
                      <a:gd name="T1" fmla="*/ T0 w 120"/>
                      <a:gd name="T2" fmla="+- 0 5157 4696"/>
                      <a:gd name="T3" fmla="*/ 5157 h 621"/>
                      <a:gd name="T4" fmla="+- 0 1685 1645"/>
                      <a:gd name="T5" fmla="*/ T4 w 120"/>
                      <a:gd name="T6" fmla="+- 0 5157 4696"/>
                      <a:gd name="T7" fmla="*/ 5157 h 621"/>
                      <a:gd name="T8" fmla="+- 0 1685 1645"/>
                      <a:gd name="T9" fmla="*/ T8 w 120"/>
                      <a:gd name="T10" fmla="+- 0 5317 4696"/>
                      <a:gd name="T11" fmla="*/ 5317 h 621"/>
                      <a:gd name="T12" fmla="+- 0 1725 1645"/>
                      <a:gd name="T13" fmla="*/ T12 w 120"/>
                      <a:gd name="T14" fmla="+- 0 5317 4696"/>
                      <a:gd name="T15" fmla="*/ 5317 h 621"/>
                      <a:gd name="T16" fmla="+- 0 1725 1645"/>
                      <a:gd name="T17" fmla="*/ T16 w 120"/>
                      <a:gd name="T18" fmla="+- 0 5157 4696"/>
                      <a:gd name="T19" fmla="*/ 5157 h 621"/>
                      <a:gd name="T20" fmla="+- 0 1725 1645"/>
                      <a:gd name="T21" fmla="*/ T20 w 120"/>
                      <a:gd name="T22" fmla="+- 0 4877 4696"/>
                      <a:gd name="T23" fmla="*/ 4877 h 621"/>
                      <a:gd name="T24" fmla="+- 0 1685 1645"/>
                      <a:gd name="T25" fmla="*/ T24 w 120"/>
                      <a:gd name="T26" fmla="+- 0 4877 4696"/>
                      <a:gd name="T27" fmla="*/ 4877 h 621"/>
                      <a:gd name="T28" fmla="+- 0 1685 1645"/>
                      <a:gd name="T29" fmla="*/ T28 w 120"/>
                      <a:gd name="T30" fmla="+- 0 5037 4696"/>
                      <a:gd name="T31" fmla="*/ 5037 h 621"/>
                      <a:gd name="T32" fmla="+- 0 1725 1645"/>
                      <a:gd name="T33" fmla="*/ T32 w 120"/>
                      <a:gd name="T34" fmla="+- 0 5037 4696"/>
                      <a:gd name="T35" fmla="*/ 5037 h 621"/>
                      <a:gd name="T36" fmla="+- 0 1725 1645"/>
                      <a:gd name="T37" fmla="*/ T36 w 120"/>
                      <a:gd name="T38" fmla="+- 0 4877 4696"/>
                      <a:gd name="T39" fmla="*/ 4877 h 621"/>
                      <a:gd name="T40" fmla="+- 0 1705 1645"/>
                      <a:gd name="T41" fmla="*/ T40 w 120"/>
                      <a:gd name="T42" fmla="+- 0 4696 4696"/>
                      <a:gd name="T43" fmla="*/ 4696 h 621"/>
                      <a:gd name="T44" fmla="+- 0 1645 1645"/>
                      <a:gd name="T45" fmla="*/ T44 w 120"/>
                      <a:gd name="T46" fmla="+- 0 4816 4696"/>
                      <a:gd name="T47" fmla="*/ 4816 h 621"/>
                      <a:gd name="T48" fmla="+- 0 1765 1645"/>
                      <a:gd name="T49" fmla="*/ T48 w 120"/>
                      <a:gd name="T50" fmla="+- 0 4816 4696"/>
                      <a:gd name="T51" fmla="*/ 4816 h 621"/>
                      <a:gd name="T52" fmla="+- 0 1705 1645"/>
                      <a:gd name="T53" fmla="*/ T52 w 120"/>
                      <a:gd name="T54" fmla="+- 0 4696 4696"/>
                      <a:gd name="T55" fmla="*/ 4696 h 621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  <a:cxn ang="0">
                        <a:pos x="T21" y="T23"/>
                      </a:cxn>
                      <a:cxn ang="0">
                        <a:pos x="T25" y="T27"/>
                      </a:cxn>
                      <a:cxn ang="0">
                        <a:pos x="T29" y="T31"/>
                      </a:cxn>
                      <a:cxn ang="0">
                        <a:pos x="T33" y="T35"/>
                      </a:cxn>
                      <a:cxn ang="0">
                        <a:pos x="T37" y="T39"/>
                      </a:cxn>
                      <a:cxn ang="0">
                        <a:pos x="T41" y="T43"/>
                      </a:cxn>
                      <a:cxn ang="0">
                        <a:pos x="T45" y="T47"/>
                      </a:cxn>
                      <a:cxn ang="0">
                        <a:pos x="T49" y="T51"/>
                      </a:cxn>
                      <a:cxn ang="0">
                        <a:pos x="T53" y="T55"/>
                      </a:cxn>
                    </a:cxnLst>
                    <a:rect l="0" t="0" r="r" b="b"/>
                    <a:pathLst>
                      <a:path w="120" h="621">
                        <a:moveTo>
                          <a:pt x="80" y="461"/>
                        </a:moveTo>
                        <a:lnTo>
                          <a:pt x="40" y="461"/>
                        </a:lnTo>
                        <a:lnTo>
                          <a:pt x="40" y="621"/>
                        </a:lnTo>
                        <a:lnTo>
                          <a:pt x="80" y="621"/>
                        </a:lnTo>
                        <a:lnTo>
                          <a:pt x="80" y="461"/>
                        </a:lnTo>
                        <a:close/>
                        <a:moveTo>
                          <a:pt x="80" y="181"/>
                        </a:moveTo>
                        <a:lnTo>
                          <a:pt x="40" y="181"/>
                        </a:lnTo>
                        <a:lnTo>
                          <a:pt x="40" y="341"/>
                        </a:lnTo>
                        <a:lnTo>
                          <a:pt x="80" y="341"/>
                        </a:lnTo>
                        <a:lnTo>
                          <a:pt x="80" y="181"/>
                        </a:lnTo>
                        <a:close/>
                        <a:moveTo>
                          <a:pt x="60" y="0"/>
                        </a:moveTo>
                        <a:lnTo>
                          <a:pt x="0" y="120"/>
                        </a:lnTo>
                        <a:lnTo>
                          <a:pt x="120" y="120"/>
                        </a:lnTo>
                        <a:lnTo>
                          <a:pt x="6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45" name="Line 36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746337" y="5876844"/>
                    <a:ext cx="9092749" cy="9418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prstDash val="lg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sp>
                <p:nvSpPr>
                  <p:cNvPr id="63" name="AutoShape 39"/>
                  <p:cNvSpPr>
                    <a:spLocks/>
                  </p:cNvSpPr>
                  <p:nvPr/>
                </p:nvSpPr>
                <p:spPr bwMode="auto">
                  <a:xfrm>
                    <a:off x="699316" y="5319809"/>
                    <a:ext cx="94042" cy="557035"/>
                  </a:xfrm>
                  <a:custGeom>
                    <a:avLst/>
                    <a:gdLst>
                      <a:gd name="T0" fmla="+- 0 1725 1645"/>
                      <a:gd name="T1" fmla="*/ T0 w 120"/>
                      <a:gd name="T2" fmla="+- 0 5157 4696"/>
                      <a:gd name="T3" fmla="*/ 5157 h 621"/>
                      <a:gd name="T4" fmla="+- 0 1685 1645"/>
                      <a:gd name="T5" fmla="*/ T4 w 120"/>
                      <a:gd name="T6" fmla="+- 0 5157 4696"/>
                      <a:gd name="T7" fmla="*/ 5157 h 621"/>
                      <a:gd name="T8" fmla="+- 0 1685 1645"/>
                      <a:gd name="T9" fmla="*/ T8 w 120"/>
                      <a:gd name="T10" fmla="+- 0 5317 4696"/>
                      <a:gd name="T11" fmla="*/ 5317 h 621"/>
                      <a:gd name="T12" fmla="+- 0 1725 1645"/>
                      <a:gd name="T13" fmla="*/ T12 w 120"/>
                      <a:gd name="T14" fmla="+- 0 5317 4696"/>
                      <a:gd name="T15" fmla="*/ 5317 h 621"/>
                      <a:gd name="T16" fmla="+- 0 1725 1645"/>
                      <a:gd name="T17" fmla="*/ T16 w 120"/>
                      <a:gd name="T18" fmla="+- 0 5157 4696"/>
                      <a:gd name="T19" fmla="*/ 5157 h 621"/>
                      <a:gd name="T20" fmla="+- 0 1725 1645"/>
                      <a:gd name="T21" fmla="*/ T20 w 120"/>
                      <a:gd name="T22" fmla="+- 0 4877 4696"/>
                      <a:gd name="T23" fmla="*/ 4877 h 621"/>
                      <a:gd name="T24" fmla="+- 0 1685 1645"/>
                      <a:gd name="T25" fmla="*/ T24 w 120"/>
                      <a:gd name="T26" fmla="+- 0 4877 4696"/>
                      <a:gd name="T27" fmla="*/ 4877 h 621"/>
                      <a:gd name="T28" fmla="+- 0 1685 1645"/>
                      <a:gd name="T29" fmla="*/ T28 w 120"/>
                      <a:gd name="T30" fmla="+- 0 5037 4696"/>
                      <a:gd name="T31" fmla="*/ 5037 h 621"/>
                      <a:gd name="T32" fmla="+- 0 1725 1645"/>
                      <a:gd name="T33" fmla="*/ T32 w 120"/>
                      <a:gd name="T34" fmla="+- 0 5037 4696"/>
                      <a:gd name="T35" fmla="*/ 5037 h 621"/>
                      <a:gd name="T36" fmla="+- 0 1725 1645"/>
                      <a:gd name="T37" fmla="*/ T36 w 120"/>
                      <a:gd name="T38" fmla="+- 0 4877 4696"/>
                      <a:gd name="T39" fmla="*/ 4877 h 621"/>
                      <a:gd name="T40" fmla="+- 0 1705 1645"/>
                      <a:gd name="T41" fmla="*/ T40 w 120"/>
                      <a:gd name="T42" fmla="+- 0 4696 4696"/>
                      <a:gd name="T43" fmla="*/ 4696 h 621"/>
                      <a:gd name="T44" fmla="+- 0 1645 1645"/>
                      <a:gd name="T45" fmla="*/ T44 w 120"/>
                      <a:gd name="T46" fmla="+- 0 4816 4696"/>
                      <a:gd name="T47" fmla="*/ 4816 h 621"/>
                      <a:gd name="T48" fmla="+- 0 1765 1645"/>
                      <a:gd name="T49" fmla="*/ T48 w 120"/>
                      <a:gd name="T50" fmla="+- 0 4816 4696"/>
                      <a:gd name="T51" fmla="*/ 4816 h 621"/>
                      <a:gd name="T52" fmla="+- 0 1705 1645"/>
                      <a:gd name="T53" fmla="*/ T52 w 120"/>
                      <a:gd name="T54" fmla="+- 0 4696 4696"/>
                      <a:gd name="T55" fmla="*/ 4696 h 621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  <a:cxn ang="0">
                        <a:pos x="T21" y="T23"/>
                      </a:cxn>
                      <a:cxn ang="0">
                        <a:pos x="T25" y="T27"/>
                      </a:cxn>
                      <a:cxn ang="0">
                        <a:pos x="T29" y="T31"/>
                      </a:cxn>
                      <a:cxn ang="0">
                        <a:pos x="T33" y="T35"/>
                      </a:cxn>
                      <a:cxn ang="0">
                        <a:pos x="T37" y="T39"/>
                      </a:cxn>
                      <a:cxn ang="0">
                        <a:pos x="T41" y="T43"/>
                      </a:cxn>
                      <a:cxn ang="0">
                        <a:pos x="T45" y="T47"/>
                      </a:cxn>
                      <a:cxn ang="0">
                        <a:pos x="T49" y="T51"/>
                      </a:cxn>
                      <a:cxn ang="0">
                        <a:pos x="T53" y="T55"/>
                      </a:cxn>
                    </a:cxnLst>
                    <a:rect l="0" t="0" r="r" b="b"/>
                    <a:pathLst>
                      <a:path w="120" h="621">
                        <a:moveTo>
                          <a:pt x="80" y="461"/>
                        </a:moveTo>
                        <a:lnTo>
                          <a:pt x="40" y="461"/>
                        </a:lnTo>
                        <a:lnTo>
                          <a:pt x="40" y="621"/>
                        </a:lnTo>
                        <a:lnTo>
                          <a:pt x="80" y="621"/>
                        </a:lnTo>
                        <a:lnTo>
                          <a:pt x="80" y="461"/>
                        </a:lnTo>
                        <a:close/>
                        <a:moveTo>
                          <a:pt x="80" y="181"/>
                        </a:moveTo>
                        <a:lnTo>
                          <a:pt x="40" y="181"/>
                        </a:lnTo>
                        <a:lnTo>
                          <a:pt x="40" y="341"/>
                        </a:lnTo>
                        <a:lnTo>
                          <a:pt x="80" y="341"/>
                        </a:lnTo>
                        <a:lnTo>
                          <a:pt x="80" y="181"/>
                        </a:lnTo>
                        <a:close/>
                        <a:moveTo>
                          <a:pt x="60" y="0"/>
                        </a:moveTo>
                        <a:lnTo>
                          <a:pt x="0" y="120"/>
                        </a:lnTo>
                        <a:lnTo>
                          <a:pt x="120" y="120"/>
                        </a:lnTo>
                        <a:lnTo>
                          <a:pt x="6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4" name="AutoShape 39"/>
                  <p:cNvSpPr>
                    <a:spLocks/>
                  </p:cNvSpPr>
                  <p:nvPr/>
                </p:nvSpPr>
                <p:spPr bwMode="auto">
                  <a:xfrm>
                    <a:off x="2562636" y="5320129"/>
                    <a:ext cx="94042" cy="557035"/>
                  </a:xfrm>
                  <a:custGeom>
                    <a:avLst/>
                    <a:gdLst>
                      <a:gd name="T0" fmla="+- 0 1725 1645"/>
                      <a:gd name="T1" fmla="*/ T0 w 120"/>
                      <a:gd name="T2" fmla="+- 0 5157 4696"/>
                      <a:gd name="T3" fmla="*/ 5157 h 621"/>
                      <a:gd name="T4" fmla="+- 0 1685 1645"/>
                      <a:gd name="T5" fmla="*/ T4 w 120"/>
                      <a:gd name="T6" fmla="+- 0 5157 4696"/>
                      <a:gd name="T7" fmla="*/ 5157 h 621"/>
                      <a:gd name="T8" fmla="+- 0 1685 1645"/>
                      <a:gd name="T9" fmla="*/ T8 w 120"/>
                      <a:gd name="T10" fmla="+- 0 5317 4696"/>
                      <a:gd name="T11" fmla="*/ 5317 h 621"/>
                      <a:gd name="T12" fmla="+- 0 1725 1645"/>
                      <a:gd name="T13" fmla="*/ T12 w 120"/>
                      <a:gd name="T14" fmla="+- 0 5317 4696"/>
                      <a:gd name="T15" fmla="*/ 5317 h 621"/>
                      <a:gd name="T16" fmla="+- 0 1725 1645"/>
                      <a:gd name="T17" fmla="*/ T16 w 120"/>
                      <a:gd name="T18" fmla="+- 0 5157 4696"/>
                      <a:gd name="T19" fmla="*/ 5157 h 621"/>
                      <a:gd name="T20" fmla="+- 0 1725 1645"/>
                      <a:gd name="T21" fmla="*/ T20 w 120"/>
                      <a:gd name="T22" fmla="+- 0 4877 4696"/>
                      <a:gd name="T23" fmla="*/ 4877 h 621"/>
                      <a:gd name="T24" fmla="+- 0 1685 1645"/>
                      <a:gd name="T25" fmla="*/ T24 w 120"/>
                      <a:gd name="T26" fmla="+- 0 4877 4696"/>
                      <a:gd name="T27" fmla="*/ 4877 h 621"/>
                      <a:gd name="T28" fmla="+- 0 1685 1645"/>
                      <a:gd name="T29" fmla="*/ T28 w 120"/>
                      <a:gd name="T30" fmla="+- 0 5037 4696"/>
                      <a:gd name="T31" fmla="*/ 5037 h 621"/>
                      <a:gd name="T32" fmla="+- 0 1725 1645"/>
                      <a:gd name="T33" fmla="*/ T32 w 120"/>
                      <a:gd name="T34" fmla="+- 0 5037 4696"/>
                      <a:gd name="T35" fmla="*/ 5037 h 621"/>
                      <a:gd name="T36" fmla="+- 0 1725 1645"/>
                      <a:gd name="T37" fmla="*/ T36 w 120"/>
                      <a:gd name="T38" fmla="+- 0 4877 4696"/>
                      <a:gd name="T39" fmla="*/ 4877 h 621"/>
                      <a:gd name="T40" fmla="+- 0 1705 1645"/>
                      <a:gd name="T41" fmla="*/ T40 w 120"/>
                      <a:gd name="T42" fmla="+- 0 4696 4696"/>
                      <a:gd name="T43" fmla="*/ 4696 h 621"/>
                      <a:gd name="T44" fmla="+- 0 1645 1645"/>
                      <a:gd name="T45" fmla="*/ T44 w 120"/>
                      <a:gd name="T46" fmla="+- 0 4816 4696"/>
                      <a:gd name="T47" fmla="*/ 4816 h 621"/>
                      <a:gd name="T48" fmla="+- 0 1765 1645"/>
                      <a:gd name="T49" fmla="*/ T48 w 120"/>
                      <a:gd name="T50" fmla="+- 0 4816 4696"/>
                      <a:gd name="T51" fmla="*/ 4816 h 621"/>
                      <a:gd name="T52" fmla="+- 0 1705 1645"/>
                      <a:gd name="T53" fmla="*/ T52 w 120"/>
                      <a:gd name="T54" fmla="+- 0 4696 4696"/>
                      <a:gd name="T55" fmla="*/ 4696 h 621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  <a:cxn ang="0">
                        <a:pos x="T21" y="T23"/>
                      </a:cxn>
                      <a:cxn ang="0">
                        <a:pos x="T25" y="T27"/>
                      </a:cxn>
                      <a:cxn ang="0">
                        <a:pos x="T29" y="T31"/>
                      </a:cxn>
                      <a:cxn ang="0">
                        <a:pos x="T33" y="T35"/>
                      </a:cxn>
                      <a:cxn ang="0">
                        <a:pos x="T37" y="T39"/>
                      </a:cxn>
                      <a:cxn ang="0">
                        <a:pos x="T41" y="T43"/>
                      </a:cxn>
                      <a:cxn ang="0">
                        <a:pos x="T45" y="T47"/>
                      </a:cxn>
                      <a:cxn ang="0">
                        <a:pos x="T49" y="T51"/>
                      </a:cxn>
                      <a:cxn ang="0">
                        <a:pos x="T53" y="T55"/>
                      </a:cxn>
                    </a:cxnLst>
                    <a:rect l="0" t="0" r="r" b="b"/>
                    <a:pathLst>
                      <a:path w="120" h="621">
                        <a:moveTo>
                          <a:pt x="80" y="461"/>
                        </a:moveTo>
                        <a:lnTo>
                          <a:pt x="40" y="461"/>
                        </a:lnTo>
                        <a:lnTo>
                          <a:pt x="40" y="621"/>
                        </a:lnTo>
                        <a:lnTo>
                          <a:pt x="80" y="621"/>
                        </a:lnTo>
                        <a:lnTo>
                          <a:pt x="80" y="461"/>
                        </a:lnTo>
                        <a:close/>
                        <a:moveTo>
                          <a:pt x="80" y="181"/>
                        </a:moveTo>
                        <a:lnTo>
                          <a:pt x="40" y="181"/>
                        </a:lnTo>
                        <a:lnTo>
                          <a:pt x="40" y="341"/>
                        </a:lnTo>
                        <a:lnTo>
                          <a:pt x="80" y="341"/>
                        </a:lnTo>
                        <a:lnTo>
                          <a:pt x="80" y="181"/>
                        </a:lnTo>
                        <a:close/>
                        <a:moveTo>
                          <a:pt x="60" y="0"/>
                        </a:moveTo>
                        <a:lnTo>
                          <a:pt x="0" y="120"/>
                        </a:lnTo>
                        <a:lnTo>
                          <a:pt x="120" y="120"/>
                        </a:lnTo>
                        <a:lnTo>
                          <a:pt x="6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" name="AutoShape 39"/>
                  <p:cNvSpPr>
                    <a:spLocks/>
                  </p:cNvSpPr>
                  <p:nvPr/>
                </p:nvSpPr>
                <p:spPr bwMode="auto">
                  <a:xfrm>
                    <a:off x="3622175" y="5329227"/>
                    <a:ext cx="94042" cy="557035"/>
                  </a:xfrm>
                  <a:custGeom>
                    <a:avLst/>
                    <a:gdLst>
                      <a:gd name="T0" fmla="+- 0 1725 1645"/>
                      <a:gd name="T1" fmla="*/ T0 w 120"/>
                      <a:gd name="T2" fmla="+- 0 5157 4696"/>
                      <a:gd name="T3" fmla="*/ 5157 h 621"/>
                      <a:gd name="T4" fmla="+- 0 1685 1645"/>
                      <a:gd name="T5" fmla="*/ T4 w 120"/>
                      <a:gd name="T6" fmla="+- 0 5157 4696"/>
                      <a:gd name="T7" fmla="*/ 5157 h 621"/>
                      <a:gd name="T8" fmla="+- 0 1685 1645"/>
                      <a:gd name="T9" fmla="*/ T8 w 120"/>
                      <a:gd name="T10" fmla="+- 0 5317 4696"/>
                      <a:gd name="T11" fmla="*/ 5317 h 621"/>
                      <a:gd name="T12" fmla="+- 0 1725 1645"/>
                      <a:gd name="T13" fmla="*/ T12 w 120"/>
                      <a:gd name="T14" fmla="+- 0 5317 4696"/>
                      <a:gd name="T15" fmla="*/ 5317 h 621"/>
                      <a:gd name="T16" fmla="+- 0 1725 1645"/>
                      <a:gd name="T17" fmla="*/ T16 w 120"/>
                      <a:gd name="T18" fmla="+- 0 5157 4696"/>
                      <a:gd name="T19" fmla="*/ 5157 h 621"/>
                      <a:gd name="T20" fmla="+- 0 1725 1645"/>
                      <a:gd name="T21" fmla="*/ T20 w 120"/>
                      <a:gd name="T22" fmla="+- 0 4877 4696"/>
                      <a:gd name="T23" fmla="*/ 4877 h 621"/>
                      <a:gd name="T24" fmla="+- 0 1685 1645"/>
                      <a:gd name="T25" fmla="*/ T24 w 120"/>
                      <a:gd name="T26" fmla="+- 0 4877 4696"/>
                      <a:gd name="T27" fmla="*/ 4877 h 621"/>
                      <a:gd name="T28" fmla="+- 0 1685 1645"/>
                      <a:gd name="T29" fmla="*/ T28 w 120"/>
                      <a:gd name="T30" fmla="+- 0 5037 4696"/>
                      <a:gd name="T31" fmla="*/ 5037 h 621"/>
                      <a:gd name="T32" fmla="+- 0 1725 1645"/>
                      <a:gd name="T33" fmla="*/ T32 w 120"/>
                      <a:gd name="T34" fmla="+- 0 5037 4696"/>
                      <a:gd name="T35" fmla="*/ 5037 h 621"/>
                      <a:gd name="T36" fmla="+- 0 1725 1645"/>
                      <a:gd name="T37" fmla="*/ T36 w 120"/>
                      <a:gd name="T38" fmla="+- 0 4877 4696"/>
                      <a:gd name="T39" fmla="*/ 4877 h 621"/>
                      <a:gd name="T40" fmla="+- 0 1705 1645"/>
                      <a:gd name="T41" fmla="*/ T40 w 120"/>
                      <a:gd name="T42" fmla="+- 0 4696 4696"/>
                      <a:gd name="T43" fmla="*/ 4696 h 621"/>
                      <a:gd name="T44" fmla="+- 0 1645 1645"/>
                      <a:gd name="T45" fmla="*/ T44 w 120"/>
                      <a:gd name="T46" fmla="+- 0 4816 4696"/>
                      <a:gd name="T47" fmla="*/ 4816 h 621"/>
                      <a:gd name="T48" fmla="+- 0 1765 1645"/>
                      <a:gd name="T49" fmla="*/ T48 w 120"/>
                      <a:gd name="T50" fmla="+- 0 4816 4696"/>
                      <a:gd name="T51" fmla="*/ 4816 h 621"/>
                      <a:gd name="T52" fmla="+- 0 1705 1645"/>
                      <a:gd name="T53" fmla="*/ T52 w 120"/>
                      <a:gd name="T54" fmla="+- 0 4696 4696"/>
                      <a:gd name="T55" fmla="*/ 4696 h 621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  <a:cxn ang="0">
                        <a:pos x="T21" y="T23"/>
                      </a:cxn>
                      <a:cxn ang="0">
                        <a:pos x="T25" y="T27"/>
                      </a:cxn>
                      <a:cxn ang="0">
                        <a:pos x="T29" y="T31"/>
                      </a:cxn>
                      <a:cxn ang="0">
                        <a:pos x="T33" y="T35"/>
                      </a:cxn>
                      <a:cxn ang="0">
                        <a:pos x="T37" y="T39"/>
                      </a:cxn>
                      <a:cxn ang="0">
                        <a:pos x="T41" y="T43"/>
                      </a:cxn>
                      <a:cxn ang="0">
                        <a:pos x="T45" y="T47"/>
                      </a:cxn>
                      <a:cxn ang="0">
                        <a:pos x="T49" y="T51"/>
                      </a:cxn>
                      <a:cxn ang="0">
                        <a:pos x="T53" y="T55"/>
                      </a:cxn>
                    </a:cxnLst>
                    <a:rect l="0" t="0" r="r" b="b"/>
                    <a:pathLst>
                      <a:path w="120" h="621">
                        <a:moveTo>
                          <a:pt x="80" y="461"/>
                        </a:moveTo>
                        <a:lnTo>
                          <a:pt x="40" y="461"/>
                        </a:lnTo>
                        <a:lnTo>
                          <a:pt x="40" y="621"/>
                        </a:lnTo>
                        <a:lnTo>
                          <a:pt x="80" y="621"/>
                        </a:lnTo>
                        <a:lnTo>
                          <a:pt x="80" y="461"/>
                        </a:lnTo>
                        <a:close/>
                        <a:moveTo>
                          <a:pt x="80" y="181"/>
                        </a:moveTo>
                        <a:lnTo>
                          <a:pt x="40" y="181"/>
                        </a:lnTo>
                        <a:lnTo>
                          <a:pt x="40" y="341"/>
                        </a:lnTo>
                        <a:lnTo>
                          <a:pt x="80" y="341"/>
                        </a:lnTo>
                        <a:lnTo>
                          <a:pt x="80" y="181"/>
                        </a:lnTo>
                        <a:close/>
                        <a:moveTo>
                          <a:pt x="60" y="0"/>
                        </a:moveTo>
                        <a:lnTo>
                          <a:pt x="0" y="120"/>
                        </a:lnTo>
                        <a:lnTo>
                          <a:pt x="120" y="120"/>
                        </a:lnTo>
                        <a:lnTo>
                          <a:pt x="6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7" name="AutoShape 39"/>
                  <p:cNvSpPr>
                    <a:spLocks/>
                  </p:cNvSpPr>
                  <p:nvPr/>
                </p:nvSpPr>
                <p:spPr bwMode="auto">
                  <a:xfrm>
                    <a:off x="4675445" y="5320129"/>
                    <a:ext cx="94042" cy="557035"/>
                  </a:xfrm>
                  <a:custGeom>
                    <a:avLst/>
                    <a:gdLst>
                      <a:gd name="T0" fmla="+- 0 1725 1645"/>
                      <a:gd name="T1" fmla="*/ T0 w 120"/>
                      <a:gd name="T2" fmla="+- 0 5157 4696"/>
                      <a:gd name="T3" fmla="*/ 5157 h 621"/>
                      <a:gd name="T4" fmla="+- 0 1685 1645"/>
                      <a:gd name="T5" fmla="*/ T4 w 120"/>
                      <a:gd name="T6" fmla="+- 0 5157 4696"/>
                      <a:gd name="T7" fmla="*/ 5157 h 621"/>
                      <a:gd name="T8" fmla="+- 0 1685 1645"/>
                      <a:gd name="T9" fmla="*/ T8 w 120"/>
                      <a:gd name="T10" fmla="+- 0 5317 4696"/>
                      <a:gd name="T11" fmla="*/ 5317 h 621"/>
                      <a:gd name="T12" fmla="+- 0 1725 1645"/>
                      <a:gd name="T13" fmla="*/ T12 w 120"/>
                      <a:gd name="T14" fmla="+- 0 5317 4696"/>
                      <a:gd name="T15" fmla="*/ 5317 h 621"/>
                      <a:gd name="T16" fmla="+- 0 1725 1645"/>
                      <a:gd name="T17" fmla="*/ T16 w 120"/>
                      <a:gd name="T18" fmla="+- 0 5157 4696"/>
                      <a:gd name="T19" fmla="*/ 5157 h 621"/>
                      <a:gd name="T20" fmla="+- 0 1725 1645"/>
                      <a:gd name="T21" fmla="*/ T20 w 120"/>
                      <a:gd name="T22" fmla="+- 0 4877 4696"/>
                      <a:gd name="T23" fmla="*/ 4877 h 621"/>
                      <a:gd name="T24" fmla="+- 0 1685 1645"/>
                      <a:gd name="T25" fmla="*/ T24 w 120"/>
                      <a:gd name="T26" fmla="+- 0 4877 4696"/>
                      <a:gd name="T27" fmla="*/ 4877 h 621"/>
                      <a:gd name="T28" fmla="+- 0 1685 1645"/>
                      <a:gd name="T29" fmla="*/ T28 w 120"/>
                      <a:gd name="T30" fmla="+- 0 5037 4696"/>
                      <a:gd name="T31" fmla="*/ 5037 h 621"/>
                      <a:gd name="T32" fmla="+- 0 1725 1645"/>
                      <a:gd name="T33" fmla="*/ T32 w 120"/>
                      <a:gd name="T34" fmla="+- 0 5037 4696"/>
                      <a:gd name="T35" fmla="*/ 5037 h 621"/>
                      <a:gd name="T36" fmla="+- 0 1725 1645"/>
                      <a:gd name="T37" fmla="*/ T36 w 120"/>
                      <a:gd name="T38" fmla="+- 0 4877 4696"/>
                      <a:gd name="T39" fmla="*/ 4877 h 621"/>
                      <a:gd name="T40" fmla="+- 0 1705 1645"/>
                      <a:gd name="T41" fmla="*/ T40 w 120"/>
                      <a:gd name="T42" fmla="+- 0 4696 4696"/>
                      <a:gd name="T43" fmla="*/ 4696 h 621"/>
                      <a:gd name="T44" fmla="+- 0 1645 1645"/>
                      <a:gd name="T45" fmla="*/ T44 w 120"/>
                      <a:gd name="T46" fmla="+- 0 4816 4696"/>
                      <a:gd name="T47" fmla="*/ 4816 h 621"/>
                      <a:gd name="T48" fmla="+- 0 1765 1645"/>
                      <a:gd name="T49" fmla="*/ T48 w 120"/>
                      <a:gd name="T50" fmla="+- 0 4816 4696"/>
                      <a:gd name="T51" fmla="*/ 4816 h 621"/>
                      <a:gd name="T52" fmla="+- 0 1705 1645"/>
                      <a:gd name="T53" fmla="*/ T52 w 120"/>
                      <a:gd name="T54" fmla="+- 0 4696 4696"/>
                      <a:gd name="T55" fmla="*/ 4696 h 621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  <a:cxn ang="0">
                        <a:pos x="T21" y="T23"/>
                      </a:cxn>
                      <a:cxn ang="0">
                        <a:pos x="T25" y="T27"/>
                      </a:cxn>
                      <a:cxn ang="0">
                        <a:pos x="T29" y="T31"/>
                      </a:cxn>
                      <a:cxn ang="0">
                        <a:pos x="T33" y="T35"/>
                      </a:cxn>
                      <a:cxn ang="0">
                        <a:pos x="T37" y="T39"/>
                      </a:cxn>
                      <a:cxn ang="0">
                        <a:pos x="T41" y="T43"/>
                      </a:cxn>
                      <a:cxn ang="0">
                        <a:pos x="T45" y="T47"/>
                      </a:cxn>
                      <a:cxn ang="0">
                        <a:pos x="T49" y="T51"/>
                      </a:cxn>
                      <a:cxn ang="0">
                        <a:pos x="T53" y="T55"/>
                      </a:cxn>
                    </a:cxnLst>
                    <a:rect l="0" t="0" r="r" b="b"/>
                    <a:pathLst>
                      <a:path w="120" h="621">
                        <a:moveTo>
                          <a:pt x="80" y="461"/>
                        </a:moveTo>
                        <a:lnTo>
                          <a:pt x="40" y="461"/>
                        </a:lnTo>
                        <a:lnTo>
                          <a:pt x="40" y="621"/>
                        </a:lnTo>
                        <a:lnTo>
                          <a:pt x="80" y="621"/>
                        </a:lnTo>
                        <a:lnTo>
                          <a:pt x="80" y="461"/>
                        </a:lnTo>
                        <a:close/>
                        <a:moveTo>
                          <a:pt x="80" y="181"/>
                        </a:moveTo>
                        <a:lnTo>
                          <a:pt x="40" y="181"/>
                        </a:lnTo>
                        <a:lnTo>
                          <a:pt x="40" y="341"/>
                        </a:lnTo>
                        <a:lnTo>
                          <a:pt x="80" y="341"/>
                        </a:lnTo>
                        <a:lnTo>
                          <a:pt x="80" y="181"/>
                        </a:lnTo>
                        <a:close/>
                        <a:moveTo>
                          <a:pt x="60" y="0"/>
                        </a:moveTo>
                        <a:lnTo>
                          <a:pt x="0" y="120"/>
                        </a:lnTo>
                        <a:lnTo>
                          <a:pt x="120" y="120"/>
                        </a:lnTo>
                        <a:lnTo>
                          <a:pt x="6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8" name="AutoShape 39"/>
                  <p:cNvSpPr>
                    <a:spLocks/>
                  </p:cNvSpPr>
                  <p:nvPr/>
                </p:nvSpPr>
                <p:spPr bwMode="auto">
                  <a:xfrm>
                    <a:off x="5681694" y="5324159"/>
                    <a:ext cx="94042" cy="557035"/>
                  </a:xfrm>
                  <a:custGeom>
                    <a:avLst/>
                    <a:gdLst>
                      <a:gd name="T0" fmla="+- 0 1725 1645"/>
                      <a:gd name="T1" fmla="*/ T0 w 120"/>
                      <a:gd name="T2" fmla="+- 0 5157 4696"/>
                      <a:gd name="T3" fmla="*/ 5157 h 621"/>
                      <a:gd name="T4" fmla="+- 0 1685 1645"/>
                      <a:gd name="T5" fmla="*/ T4 w 120"/>
                      <a:gd name="T6" fmla="+- 0 5157 4696"/>
                      <a:gd name="T7" fmla="*/ 5157 h 621"/>
                      <a:gd name="T8" fmla="+- 0 1685 1645"/>
                      <a:gd name="T9" fmla="*/ T8 w 120"/>
                      <a:gd name="T10" fmla="+- 0 5317 4696"/>
                      <a:gd name="T11" fmla="*/ 5317 h 621"/>
                      <a:gd name="T12" fmla="+- 0 1725 1645"/>
                      <a:gd name="T13" fmla="*/ T12 w 120"/>
                      <a:gd name="T14" fmla="+- 0 5317 4696"/>
                      <a:gd name="T15" fmla="*/ 5317 h 621"/>
                      <a:gd name="T16" fmla="+- 0 1725 1645"/>
                      <a:gd name="T17" fmla="*/ T16 w 120"/>
                      <a:gd name="T18" fmla="+- 0 5157 4696"/>
                      <a:gd name="T19" fmla="*/ 5157 h 621"/>
                      <a:gd name="T20" fmla="+- 0 1725 1645"/>
                      <a:gd name="T21" fmla="*/ T20 w 120"/>
                      <a:gd name="T22" fmla="+- 0 4877 4696"/>
                      <a:gd name="T23" fmla="*/ 4877 h 621"/>
                      <a:gd name="T24" fmla="+- 0 1685 1645"/>
                      <a:gd name="T25" fmla="*/ T24 w 120"/>
                      <a:gd name="T26" fmla="+- 0 4877 4696"/>
                      <a:gd name="T27" fmla="*/ 4877 h 621"/>
                      <a:gd name="T28" fmla="+- 0 1685 1645"/>
                      <a:gd name="T29" fmla="*/ T28 w 120"/>
                      <a:gd name="T30" fmla="+- 0 5037 4696"/>
                      <a:gd name="T31" fmla="*/ 5037 h 621"/>
                      <a:gd name="T32" fmla="+- 0 1725 1645"/>
                      <a:gd name="T33" fmla="*/ T32 w 120"/>
                      <a:gd name="T34" fmla="+- 0 5037 4696"/>
                      <a:gd name="T35" fmla="*/ 5037 h 621"/>
                      <a:gd name="T36" fmla="+- 0 1725 1645"/>
                      <a:gd name="T37" fmla="*/ T36 w 120"/>
                      <a:gd name="T38" fmla="+- 0 4877 4696"/>
                      <a:gd name="T39" fmla="*/ 4877 h 621"/>
                      <a:gd name="T40" fmla="+- 0 1705 1645"/>
                      <a:gd name="T41" fmla="*/ T40 w 120"/>
                      <a:gd name="T42" fmla="+- 0 4696 4696"/>
                      <a:gd name="T43" fmla="*/ 4696 h 621"/>
                      <a:gd name="T44" fmla="+- 0 1645 1645"/>
                      <a:gd name="T45" fmla="*/ T44 w 120"/>
                      <a:gd name="T46" fmla="+- 0 4816 4696"/>
                      <a:gd name="T47" fmla="*/ 4816 h 621"/>
                      <a:gd name="T48" fmla="+- 0 1765 1645"/>
                      <a:gd name="T49" fmla="*/ T48 w 120"/>
                      <a:gd name="T50" fmla="+- 0 4816 4696"/>
                      <a:gd name="T51" fmla="*/ 4816 h 621"/>
                      <a:gd name="T52" fmla="+- 0 1705 1645"/>
                      <a:gd name="T53" fmla="*/ T52 w 120"/>
                      <a:gd name="T54" fmla="+- 0 4696 4696"/>
                      <a:gd name="T55" fmla="*/ 4696 h 621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  <a:cxn ang="0">
                        <a:pos x="T21" y="T23"/>
                      </a:cxn>
                      <a:cxn ang="0">
                        <a:pos x="T25" y="T27"/>
                      </a:cxn>
                      <a:cxn ang="0">
                        <a:pos x="T29" y="T31"/>
                      </a:cxn>
                      <a:cxn ang="0">
                        <a:pos x="T33" y="T35"/>
                      </a:cxn>
                      <a:cxn ang="0">
                        <a:pos x="T37" y="T39"/>
                      </a:cxn>
                      <a:cxn ang="0">
                        <a:pos x="T41" y="T43"/>
                      </a:cxn>
                      <a:cxn ang="0">
                        <a:pos x="T45" y="T47"/>
                      </a:cxn>
                      <a:cxn ang="0">
                        <a:pos x="T49" y="T51"/>
                      </a:cxn>
                      <a:cxn ang="0">
                        <a:pos x="T53" y="T55"/>
                      </a:cxn>
                    </a:cxnLst>
                    <a:rect l="0" t="0" r="r" b="b"/>
                    <a:pathLst>
                      <a:path w="120" h="621">
                        <a:moveTo>
                          <a:pt x="80" y="461"/>
                        </a:moveTo>
                        <a:lnTo>
                          <a:pt x="40" y="461"/>
                        </a:lnTo>
                        <a:lnTo>
                          <a:pt x="40" y="621"/>
                        </a:lnTo>
                        <a:lnTo>
                          <a:pt x="80" y="621"/>
                        </a:lnTo>
                        <a:lnTo>
                          <a:pt x="80" y="461"/>
                        </a:lnTo>
                        <a:close/>
                        <a:moveTo>
                          <a:pt x="80" y="181"/>
                        </a:moveTo>
                        <a:lnTo>
                          <a:pt x="40" y="181"/>
                        </a:lnTo>
                        <a:lnTo>
                          <a:pt x="40" y="341"/>
                        </a:lnTo>
                        <a:lnTo>
                          <a:pt x="80" y="341"/>
                        </a:lnTo>
                        <a:lnTo>
                          <a:pt x="80" y="181"/>
                        </a:lnTo>
                        <a:close/>
                        <a:moveTo>
                          <a:pt x="60" y="0"/>
                        </a:moveTo>
                        <a:lnTo>
                          <a:pt x="0" y="120"/>
                        </a:lnTo>
                        <a:lnTo>
                          <a:pt x="120" y="120"/>
                        </a:lnTo>
                        <a:lnTo>
                          <a:pt x="6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9" name="AutoShape 39"/>
                  <p:cNvSpPr>
                    <a:spLocks/>
                  </p:cNvSpPr>
                  <p:nvPr/>
                </p:nvSpPr>
                <p:spPr bwMode="auto">
                  <a:xfrm>
                    <a:off x="6722021" y="5329227"/>
                    <a:ext cx="94042" cy="557035"/>
                  </a:xfrm>
                  <a:custGeom>
                    <a:avLst/>
                    <a:gdLst>
                      <a:gd name="T0" fmla="+- 0 1725 1645"/>
                      <a:gd name="T1" fmla="*/ T0 w 120"/>
                      <a:gd name="T2" fmla="+- 0 5157 4696"/>
                      <a:gd name="T3" fmla="*/ 5157 h 621"/>
                      <a:gd name="T4" fmla="+- 0 1685 1645"/>
                      <a:gd name="T5" fmla="*/ T4 w 120"/>
                      <a:gd name="T6" fmla="+- 0 5157 4696"/>
                      <a:gd name="T7" fmla="*/ 5157 h 621"/>
                      <a:gd name="T8" fmla="+- 0 1685 1645"/>
                      <a:gd name="T9" fmla="*/ T8 w 120"/>
                      <a:gd name="T10" fmla="+- 0 5317 4696"/>
                      <a:gd name="T11" fmla="*/ 5317 h 621"/>
                      <a:gd name="T12" fmla="+- 0 1725 1645"/>
                      <a:gd name="T13" fmla="*/ T12 w 120"/>
                      <a:gd name="T14" fmla="+- 0 5317 4696"/>
                      <a:gd name="T15" fmla="*/ 5317 h 621"/>
                      <a:gd name="T16" fmla="+- 0 1725 1645"/>
                      <a:gd name="T17" fmla="*/ T16 w 120"/>
                      <a:gd name="T18" fmla="+- 0 5157 4696"/>
                      <a:gd name="T19" fmla="*/ 5157 h 621"/>
                      <a:gd name="T20" fmla="+- 0 1725 1645"/>
                      <a:gd name="T21" fmla="*/ T20 w 120"/>
                      <a:gd name="T22" fmla="+- 0 4877 4696"/>
                      <a:gd name="T23" fmla="*/ 4877 h 621"/>
                      <a:gd name="T24" fmla="+- 0 1685 1645"/>
                      <a:gd name="T25" fmla="*/ T24 w 120"/>
                      <a:gd name="T26" fmla="+- 0 4877 4696"/>
                      <a:gd name="T27" fmla="*/ 4877 h 621"/>
                      <a:gd name="T28" fmla="+- 0 1685 1645"/>
                      <a:gd name="T29" fmla="*/ T28 w 120"/>
                      <a:gd name="T30" fmla="+- 0 5037 4696"/>
                      <a:gd name="T31" fmla="*/ 5037 h 621"/>
                      <a:gd name="T32" fmla="+- 0 1725 1645"/>
                      <a:gd name="T33" fmla="*/ T32 w 120"/>
                      <a:gd name="T34" fmla="+- 0 5037 4696"/>
                      <a:gd name="T35" fmla="*/ 5037 h 621"/>
                      <a:gd name="T36" fmla="+- 0 1725 1645"/>
                      <a:gd name="T37" fmla="*/ T36 w 120"/>
                      <a:gd name="T38" fmla="+- 0 4877 4696"/>
                      <a:gd name="T39" fmla="*/ 4877 h 621"/>
                      <a:gd name="T40" fmla="+- 0 1705 1645"/>
                      <a:gd name="T41" fmla="*/ T40 w 120"/>
                      <a:gd name="T42" fmla="+- 0 4696 4696"/>
                      <a:gd name="T43" fmla="*/ 4696 h 621"/>
                      <a:gd name="T44" fmla="+- 0 1645 1645"/>
                      <a:gd name="T45" fmla="*/ T44 w 120"/>
                      <a:gd name="T46" fmla="+- 0 4816 4696"/>
                      <a:gd name="T47" fmla="*/ 4816 h 621"/>
                      <a:gd name="T48" fmla="+- 0 1765 1645"/>
                      <a:gd name="T49" fmla="*/ T48 w 120"/>
                      <a:gd name="T50" fmla="+- 0 4816 4696"/>
                      <a:gd name="T51" fmla="*/ 4816 h 621"/>
                      <a:gd name="T52" fmla="+- 0 1705 1645"/>
                      <a:gd name="T53" fmla="*/ T52 w 120"/>
                      <a:gd name="T54" fmla="+- 0 4696 4696"/>
                      <a:gd name="T55" fmla="*/ 4696 h 621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  <a:cxn ang="0">
                        <a:pos x="T21" y="T23"/>
                      </a:cxn>
                      <a:cxn ang="0">
                        <a:pos x="T25" y="T27"/>
                      </a:cxn>
                      <a:cxn ang="0">
                        <a:pos x="T29" y="T31"/>
                      </a:cxn>
                      <a:cxn ang="0">
                        <a:pos x="T33" y="T35"/>
                      </a:cxn>
                      <a:cxn ang="0">
                        <a:pos x="T37" y="T39"/>
                      </a:cxn>
                      <a:cxn ang="0">
                        <a:pos x="T41" y="T43"/>
                      </a:cxn>
                      <a:cxn ang="0">
                        <a:pos x="T45" y="T47"/>
                      </a:cxn>
                      <a:cxn ang="0">
                        <a:pos x="T49" y="T51"/>
                      </a:cxn>
                      <a:cxn ang="0">
                        <a:pos x="T53" y="T55"/>
                      </a:cxn>
                    </a:cxnLst>
                    <a:rect l="0" t="0" r="r" b="b"/>
                    <a:pathLst>
                      <a:path w="120" h="621">
                        <a:moveTo>
                          <a:pt x="80" y="461"/>
                        </a:moveTo>
                        <a:lnTo>
                          <a:pt x="40" y="461"/>
                        </a:lnTo>
                        <a:lnTo>
                          <a:pt x="40" y="621"/>
                        </a:lnTo>
                        <a:lnTo>
                          <a:pt x="80" y="621"/>
                        </a:lnTo>
                        <a:lnTo>
                          <a:pt x="80" y="461"/>
                        </a:lnTo>
                        <a:close/>
                        <a:moveTo>
                          <a:pt x="80" y="181"/>
                        </a:moveTo>
                        <a:lnTo>
                          <a:pt x="40" y="181"/>
                        </a:lnTo>
                        <a:lnTo>
                          <a:pt x="40" y="341"/>
                        </a:lnTo>
                        <a:lnTo>
                          <a:pt x="80" y="341"/>
                        </a:lnTo>
                        <a:lnTo>
                          <a:pt x="80" y="181"/>
                        </a:lnTo>
                        <a:close/>
                        <a:moveTo>
                          <a:pt x="60" y="0"/>
                        </a:moveTo>
                        <a:lnTo>
                          <a:pt x="0" y="120"/>
                        </a:lnTo>
                        <a:lnTo>
                          <a:pt x="120" y="120"/>
                        </a:lnTo>
                        <a:lnTo>
                          <a:pt x="6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0" name="AutoShape 39"/>
                  <p:cNvSpPr>
                    <a:spLocks/>
                  </p:cNvSpPr>
                  <p:nvPr/>
                </p:nvSpPr>
                <p:spPr bwMode="auto">
                  <a:xfrm>
                    <a:off x="7775291" y="5329227"/>
                    <a:ext cx="94042" cy="557035"/>
                  </a:xfrm>
                  <a:custGeom>
                    <a:avLst/>
                    <a:gdLst>
                      <a:gd name="T0" fmla="+- 0 1725 1645"/>
                      <a:gd name="T1" fmla="*/ T0 w 120"/>
                      <a:gd name="T2" fmla="+- 0 5157 4696"/>
                      <a:gd name="T3" fmla="*/ 5157 h 621"/>
                      <a:gd name="T4" fmla="+- 0 1685 1645"/>
                      <a:gd name="T5" fmla="*/ T4 w 120"/>
                      <a:gd name="T6" fmla="+- 0 5157 4696"/>
                      <a:gd name="T7" fmla="*/ 5157 h 621"/>
                      <a:gd name="T8" fmla="+- 0 1685 1645"/>
                      <a:gd name="T9" fmla="*/ T8 w 120"/>
                      <a:gd name="T10" fmla="+- 0 5317 4696"/>
                      <a:gd name="T11" fmla="*/ 5317 h 621"/>
                      <a:gd name="T12" fmla="+- 0 1725 1645"/>
                      <a:gd name="T13" fmla="*/ T12 w 120"/>
                      <a:gd name="T14" fmla="+- 0 5317 4696"/>
                      <a:gd name="T15" fmla="*/ 5317 h 621"/>
                      <a:gd name="T16" fmla="+- 0 1725 1645"/>
                      <a:gd name="T17" fmla="*/ T16 w 120"/>
                      <a:gd name="T18" fmla="+- 0 5157 4696"/>
                      <a:gd name="T19" fmla="*/ 5157 h 621"/>
                      <a:gd name="T20" fmla="+- 0 1725 1645"/>
                      <a:gd name="T21" fmla="*/ T20 w 120"/>
                      <a:gd name="T22" fmla="+- 0 4877 4696"/>
                      <a:gd name="T23" fmla="*/ 4877 h 621"/>
                      <a:gd name="T24" fmla="+- 0 1685 1645"/>
                      <a:gd name="T25" fmla="*/ T24 w 120"/>
                      <a:gd name="T26" fmla="+- 0 4877 4696"/>
                      <a:gd name="T27" fmla="*/ 4877 h 621"/>
                      <a:gd name="T28" fmla="+- 0 1685 1645"/>
                      <a:gd name="T29" fmla="*/ T28 w 120"/>
                      <a:gd name="T30" fmla="+- 0 5037 4696"/>
                      <a:gd name="T31" fmla="*/ 5037 h 621"/>
                      <a:gd name="T32" fmla="+- 0 1725 1645"/>
                      <a:gd name="T33" fmla="*/ T32 w 120"/>
                      <a:gd name="T34" fmla="+- 0 5037 4696"/>
                      <a:gd name="T35" fmla="*/ 5037 h 621"/>
                      <a:gd name="T36" fmla="+- 0 1725 1645"/>
                      <a:gd name="T37" fmla="*/ T36 w 120"/>
                      <a:gd name="T38" fmla="+- 0 4877 4696"/>
                      <a:gd name="T39" fmla="*/ 4877 h 621"/>
                      <a:gd name="T40" fmla="+- 0 1705 1645"/>
                      <a:gd name="T41" fmla="*/ T40 w 120"/>
                      <a:gd name="T42" fmla="+- 0 4696 4696"/>
                      <a:gd name="T43" fmla="*/ 4696 h 621"/>
                      <a:gd name="T44" fmla="+- 0 1645 1645"/>
                      <a:gd name="T45" fmla="*/ T44 w 120"/>
                      <a:gd name="T46" fmla="+- 0 4816 4696"/>
                      <a:gd name="T47" fmla="*/ 4816 h 621"/>
                      <a:gd name="T48" fmla="+- 0 1765 1645"/>
                      <a:gd name="T49" fmla="*/ T48 w 120"/>
                      <a:gd name="T50" fmla="+- 0 4816 4696"/>
                      <a:gd name="T51" fmla="*/ 4816 h 621"/>
                      <a:gd name="T52" fmla="+- 0 1705 1645"/>
                      <a:gd name="T53" fmla="*/ T52 w 120"/>
                      <a:gd name="T54" fmla="+- 0 4696 4696"/>
                      <a:gd name="T55" fmla="*/ 4696 h 621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  <a:cxn ang="0">
                        <a:pos x="T21" y="T23"/>
                      </a:cxn>
                      <a:cxn ang="0">
                        <a:pos x="T25" y="T27"/>
                      </a:cxn>
                      <a:cxn ang="0">
                        <a:pos x="T29" y="T31"/>
                      </a:cxn>
                      <a:cxn ang="0">
                        <a:pos x="T33" y="T35"/>
                      </a:cxn>
                      <a:cxn ang="0">
                        <a:pos x="T37" y="T39"/>
                      </a:cxn>
                      <a:cxn ang="0">
                        <a:pos x="T41" y="T43"/>
                      </a:cxn>
                      <a:cxn ang="0">
                        <a:pos x="T45" y="T47"/>
                      </a:cxn>
                      <a:cxn ang="0">
                        <a:pos x="T49" y="T51"/>
                      </a:cxn>
                      <a:cxn ang="0">
                        <a:pos x="T53" y="T55"/>
                      </a:cxn>
                    </a:cxnLst>
                    <a:rect l="0" t="0" r="r" b="b"/>
                    <a:pathLst>
                      <a:path w="120" h="621">
                        <a:moveTo>
                          <a:pt x="80" y="461"/>
                        </a:moveTo>
                        <a:lnTo>
                          <a:pt x="40" y="461"/>
                        </a:lnTo>
                        <a:lnTo>
                          <a:pt x="40" y="621"/>
                        </a:lnTo>
                        <a:lnTo>
                          <a:pt x="80" y="621"/>
                        </a:lnTo>
                        <a:lnTo>
                          <a:pt x="80" y="461"/>
                        </a:lnTo>
                        <a:close/>
                        <a:moveTo>
                          <a:pt x="80" y="181"/>
                        </a:moveTo>
                        <a:lnTo>
                          <a:pt x="40" y="181"/>
                        </a:lnTo>
                        <a:lnTo>
                          <a:pt x="40" y="341"/>
                        </a:lnTo>
                        <a:lnTo>
                          <a:pt x="80" y="341"/>
                        </a:lnTo>
                        <a:lnTo>
                          <a:pt x="80" y="181"/>
                        </a:lnTo>
                        <a:close/>
                        <a:moveTo>
                          <a:pt x="60" y="0"/>
                        </a:moveTo>
                        <a:lnTo>
                          <a:pt x="0" y="120"/>
                        </a:lnTo>
                        <a:lnTo>
                          <a:pt x="120" y="120"/>
                        </a:lnTo>
                        <a:lnTo>
                          <a:pt x="6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1" name="AutoShape 39"/>
                  <p:cNvSpPr>
                    <a:spLocks/>
                  </p:cNvSpPr>
                  <p:nvPr/>
                </p:nvSpPr>
                <p:spPr bwMode="auto">
                  <a:xfrm>
                    <a:off x="8816804" y="5319808"/>
                    <a:ext cx="94042" cy="557035"/>
                  </a:xfrm>
                  <a:custGeom>
                    <a:avLst/>
                    <a:gdLst>
                      <a:gd name="T0" fmla="+- 0 1725 1645"/>
                      <a:gd name="T1" fmla="*/ T0 w 120"/>
                      <a:gd name="T2" fmla="+- 0 5157 4696"/>
                      <a:gd name="T3" fmla="*/ 5157 h 621"/>
                      <a:gd name="T4" fmla="+- 0 1685 1645"/>
                      <a:gd name="T5" fmla="*/ T4 w 120"/>
                      <a:gd name="T6" fmla="+- 0 5157 4696"/>
                      <a:gd name="T7" fmla="*/ 5157 h 621"/>
                      <a:gd name="T8" fmla="+- 0 1685 1645"/>
                      <a:gd name="T9" fmla="*/ T8 w 120"/>
                      <a:gd name="T10" fmla="+- 0 5317 4696"/>
                      <a:gd name="T11" fmla="*/ 5317 h 621"/>
                      <a:gd name="T12" fmla="+- 0 1725 1645"/>
                      <a:gd name="T13" fmla="*/ T12 w 120"/>
                      <a:gd name="T14" fmla="+- 0 5317 4696"/>
                      <a:gd name="T15" fmla="*/ 5317 h 621"/>
                      <a:gd name="T16" fmla="+- 0 1725 1645"/>
                      <a:gd name="T17" fmla="*/ T16 w 120"/>
                      <a:gd name="T18" fmla="+- 0 5157 4696"/>
                      <a:gd name="T19" fmla="*/ 5157 h 621"/>
                      <a:gd name="T20" fmla="+- 0 1725 1645"/>
                      <a:gd name="T21" fmla="*/ T20 w 120"/>
                      <a:gd name="T22" fmla="+- 0 4877 4696"/>
                      <a:gd name="T23" fmla="*/ 4877 h 621"/>
                      <a:gd name="T24" fmla="+- 0 1685 1645"/>
                      <a:gd name="T25" fmla="*/ T24 w 120"/>
                      <a:gd name="T26" fmla="+- 0 4877 4696"/>
                      <a:gd name="T27" fmla="*/ 4877 h 621"/>
                      <a:gd name="T28" fmla="+- 0 1685 1645"/>
                      <a:gd name="T29" fmla="*/ T28 w 120"/>
                      <a:gd name="T30" fmla="+- 0 5037 4696"/>
                      <a:gd name="T31" fmla="*/ 5037 h 621"/>
                      <a:gd name="T32" fmla="+- 0 1725 1645"/>
                      <a:gd name="T33" fmla="*/ T32 w 120"/>
                      <a:gd name="T34" fmla="+- 0 5037 4696"/>
                      <a:gd name="T35" fmla="*/ 5037 h 621"/>
                      <a:gd name="T36" fmla="+- 0 1725 1645"/>
                      <a:gd name="T37" fmla="*/ T36 w 120"/>
                      <a:gd name="T38" fmla="+- 0 4877 4696"/>
                      <a:gd name="T39" fmla="*/ 4877 h 621"/>
                      <a:gd name="T40" fmla="+- 0 1705 1645"/>
                      <a:gd name="T41" fmla="*/ T40 w 120"/>
                      <a:gd name="T42" fmla="+- 0 4696 4696"/>
                      <a:gd name="T43" fmla="*/ 4696 h 621"/>
                      <a:gd name="T44" fmla="+- 0 1645 1645"/>
                      <a:gd name="T45" fmla="*/ T44 w 120"/>
                      <a:gd name="T46" fmla="+- 0 4816 4696"/>
                      <a:gd name="T47" fmla="*/ 4816 h 621"/>
                      <a:gd name="T48" fmla="+- 0 1765 1645"/>
                      <a:gd name="T49" fmla="*/ T48 w 120"/>
                      <a:gd name="T50" fmla="+- 0 4816 4696"/>
                      <a:gd name="T51" fmla="*/ 4816 h 621"/>
                      <a:gd name="T52" fmla="+- 0 1705 1645"/>
                      <a:gd name="T53" fmla="*/ T52 w 120"/>
                      <a:gd name="T54" fmla="+- 0 4696 4696"/>
                      <a:gd name="T55" fmla="*/ 4696 h 621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  <a:cxn ang="0">
                        <a:pos x="T21" y="T23"/>
                      </a:cxn>
                      <a:cxn ang="0">
                        <a:pos x="T25" y="T27"/>
                      </a:cxn>
                      <a:cxn ang="0">
                        <a:pos x="T29" y="T31"/>
                      </a:cxn>
                      <a:cxn ang="0">
                        <a:pos x="T33" y="T35"/>
                      </a:cxn>
                      <a:cxn ang="0">
                        <a:pos x="T37" y="T39"/>
                      </a:cxn>
                      <a:cxn ang="0">
                        <a:pos x="T41" y="T43"/>
                      </a:cxn>
                      <a:cxn ang="0">
                        <a:pos x="T45" y="T47"/>
                      </a:cxn>
                      <a:cxn ang="0">
                        <a:pos x="T49" y="T51"/>
                      </a:cxn>
                      <a:cxn ang="0">
                        <a:pos x="T53" y="T55"/>
                      </a:cxn>
                    </a:cxnLst>
                    <a:rect l="0" t="0" r="r" b="b"/>
                    <a:pathLst>
                      <a:path w="120" h="621">
                        <a:moveTo>
                          <a:pt x="80" y="461"/>
                        </a:moveTo>
                        <a:lnTo>
                          <a:pt x="40" y="461"/>
                        </a:lnTo>
                        <a:lnTo>
                          <a:pt x="40" y="621"/>
                        </a:lnTo>
                        <a:lnTo>
                          <a:pt x="80" y="621"/>
                        </a:lnTo>
                        <a:lnTo>
                          <a:pt x="80" y="461"/>
                        </a:lnTo>
                        <a:close/>
                        <a:moveTo>
                          <a:pt x="80" y="181"/>
                        </a:moveTo>
                        <a:lnTo>
                          <a:pt x="40" y="181"/>
                        </a:lnTo>
                        <a:lnTo>
                          <a:pt x="40" y="341"/>
                        </a:lnTo>
                        <a:lnTo>
                          <a:pt x="80" y="341"/>
                        </a:lnTo>
                        <a:lnTo>
                          <a:pt x="80" y="181"/>
                        </a:lnTo>
                        <a:close/>
                        <a:moveTo>
                          <a:pt x="60" y="0"/>
                        </a:moveTo>
                        <a:lnTo>
                          <a:pt x="0" y="120"/>
                        </a:lnTo>
                        <a:lnTo>
                          <a:pt x="120" y="120"/>
                        </a:lnTo>
                        <a:lnTo>
                          <a:pt x="6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2" name="AutoShape 39"/>
                  <p:cNvSpPr>
                    <a:spLocks/>
                  </p:cNvSpPr>
                  <p:nvPr/>
                </p:nvSpPr>
                <p:spPr bwMode="auto">
                  <a:xfrm>
                    <a:off x="9839086" y="5333576"/>
                    <a:ext cx="94042" cy="557035"/>
                  </a:xfrm>
                  <a:custGeom>
                    <a:avLst/>
                    <a:gdLst>
                      <a:gd name="T0" fmla="+- 0 1725 1645"/>
                      <a:gd name="T1" fmla="*/ T0 w 120"/>
                      <a:gd name="T2" fmla="+- 0 5157 4696"/>
                      <a:gd name="T3" fmla="*/ 5157 h 621"/>
                      <a:gd name="T4" fmla="+- 0 1685 1645"/>
                      <a:gd name="T5" fmla="*/ T4 w 120"/>
                      <a:gd name="T6" fmla="+- 0 5157 4696"/>
                      <a:gd name="T7" fmla="*/ 5157 h 621"/>
                      <a:gd name="T8" fmla="+- 0 1685 1645"/>
                      <a:gd name="T9" fmla="*/ T8 w 120"/>
                      <a:gd name="T10" fmla="+- 0 5317 4696"/>
                      <a:gd name="T11" fmla="*/ 5317 h 621"/>
                      <a:gd name="T12" fmla="+- 0 1725 1645"/>
                      <a:gd name="T13" fmla="*/ T12 w 120"/>
                      <a:gd name="T14" fmla="+- 0 5317 4696"/>
                      <a:gd name="T15" fmla="*/ 5317 h 621"/>
                      <a:gd name="T16" fmla="+- 0 1725 1645"/>
                      <a:gd name="T17" fmla="*/ T16 w 120"/>
                      <a:gd name="T18" fmla="+- 0 5157 4696"/>
                      <a:gd name="T19" fmla="*/ 5157 h 621"/>
                      <a:gd name="T20" fmla="+- 0 1725 1645"/>
                      <a:gd name="T21" fmla="*/ T20 w 120"/>
                      <a:gd name="T22" fmla="+- 0 4877 4696"/>
                      <a:gd name="T23" fmla="*/ 4877 h 621"/>
                      <a:gd name="T24" fmla="+- 0 1685 1645"/>
                      <a:gd name="T25" fmla="*/ T24 w 120"/>
                      <a:gd name="T26" fmla="+- 0 4877 4696"/>
                      <a:gd name="T27" fmla="*/ 4877 h 621"/>
                      <a:gd name="T28" fmla="+- 0 1685 1645"/>
                      <a:gd name="T29" fmla="*/ T28 w 120"/>
                      <a:gd name="T30" fmla="+- 0 5037 4696"/>
                      <a:gd name="T31" fmla="*/ 5037 h 621"/>
                      <a:gd name="T32" fmla="+- 0 1725 1645"/>
                      <a:gd name="T33" fmla="*/ T32 w 120"/>
                      <a:gd name="T34" fmla="+- 0 5037 4696"/>
                      <a:gd name="T35" fmla="*/ 5037 h 621"/>
                      <a:gd name="T36" fmla="+- 0 1725 1645"/>
                      <a:gd name="T37" fmla="*/ T36 w 120"/>
                      <a:gd name="T38" fmla="+- 0 4877 4696"/>
                      <a:gd name="T39" fmla="*/ 4877 h 621"/>
                      <a:gd name="T40" fmla="+- 0 1705 1645"/>
                      <a:gd name="T41" fmla="*/ T40 w 120"/>
                      <a:gd name="T42" fmla="+- 0 4696 4696"/>
                      <a:gd name="T43" fmla="*/ 4696 h 621"/>
                      <a:gd name="T44" fmla="+- 0 1645 1645"/>
                      <a:gd name="T45" fmla="*/ T44 w 120"/>
                      <a:gd name="T46" fmla="+- 0 4816 4696"/>
                      <a:gd name="T47" fmla="*/ 4816 h 621"/>
                      <a:gd name="T48" fmla="+- 0 1765 1645"/>
                      <a:gd name="T49" fmla="*/ T48 w 120"/>
                      <a:gd name="T50" fmla="+- 0 4816 4696"/>
                      <a:gd name="T51" fmla="*/ 4816 h 621"/>
                      <a:gd name="T52" fmla="+- 0 1705 1645"/>
                      <a:gd name="T53" fmla="*/ T52 w 120"/>
                      <a:gd name="T54" fmla="+- 0 4696 4696"/>
                      <a:gd name="T55" fmla="*/ 4696 h 621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  <a:cxn ang="0">
                        <a:pos x="T21" y="T23"/>
                      </a:cxn>
                      <a:cxn ang="0">
                        <a:pos x="T25" y="T27"/>
                      </a:cxn>
                      <a:cxn ang="0">
                        <a:pos x="T29" y="T31"/>
                      </a:cxn>
                      <a:cxn ang="0">
                        <a:pos x="T33" y="T35"/>
                      </a:cxn>
                      <a:cxn ang="0">
                        <a:pos x="T37" y="T39"/>
                      </a:cxn>
                      <a:cxn ang="0">
                        <a:pos x="T41" y="T43"/>
                      </a:cxn>
                      <a:cxn ang="0">
                        <a:pos x="T45" y="T47"/>
                      </a:cxn>
                      <a:cxn ang="0">
                        <a:pos x="T49" y="T51"/>
                      </a:cxn>
                      <a:cxn ang="0">
                        <a:pos x="T53" y="T55"/>
                      </a:cxn>
                    </a:cxnLst>
                    <a:rect l="0" t="0" r="r" b="b"/>
                    <a:pathLst>
                      <a:path w="120" h="621">
                        <a:moveTo>
                          <a:pt x="80" y="461"/>
                        </a:moveTo>
                        <a:lnTo>
                          <a:pt x="40" y="461"/>
                        </a:lnTo>
                        <a:lnTo>
                          <a:pt x="40" y="621"/>
                        </a:lnTo>
                        <a:lnTo>
                          <a:pt x="80" y="621"/>
                        </a:lnTo>
                        <a:lnTo>
                          <a:pt x="80" y="461"/>
                        </a:lnTo>
                        <a:close/>
                        <a:moveTo>
                          <a:pt x="80" y="181"/>
                        </a:moveTo>
                        <a:lnTo>
                          <a:pt x="40" y="181"/>
                        </a:lnTo>
                        <a:lnTo>
                          <a:pt x="40" y="341"/>
                        </a:lnTo>
                        <a:lnTo>
                          <a:pt x="80" y="341"/>
                        </a:lnTo>
                        <a:lnTo>
                          <a:pt x="80" y="181"/>
                        </a:lnTo>
                        <a:close/>
                        <a:moveTo>
                          <a:pt x="60" y="0"/>
                        </a:moveTo>
                        <a:lnTo>
                          <a:pt x="0" y="120"/>
                        </a:lnTo>
                        <a:lnTo>
                          <a:pt x="120" y="120"/>
                        </a:lnTo>
                        <a:lnTo>
                          <a:pt x="6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" name="AutoShape 50"/>
                <p:cNvSpPr>
                  <a:spLocks/>
                </p:cNvSpPr>
                <p:nvPr/>
              </p:nvSpPr>
              <p:spPr bwMode="auto">
                <a:xfrm>
                  <a:off x="671588" y="3019910"/>
                  <a:ext cx="74749" cy="761133"/>
                </a:xfrm>
                <a:custGeom>
                  <a:avLst/>
                  <a:gdLst>
                    <a:gd name="T0" fmla="+- 0 4405 4365"/>
                    <a:gd name="T1" fmla="*/ T0 w 120"/>
                    <a:gd name="T2" fmla="+- 0 1538 761"/>
                    <a:gd name="T3" fmla="*/ 1538 h 897"/>
                    <a:gd name="T4" fmla="+- 0 4365 4365"/>
                    <a:gd name="T5" fmla="*/ T4 w 120"/>
                    <a:gd name="T6" fmla="+- 0 1538 761"/>
                    <a:gd name="T7" fmla="*/ 1538 h 897"/>
                    <a:gd name="T8" fmla="+- 0 4425 4365"/>
                    <a:gd name="T9" fmla="*/ T8 w 120"/>
                    <a:gd name="T10" fmla="+- 0 1658 761"/>
                    <a:gd name="T11" fmla="*/ 1658 h 897"/>
                    <a:gd name="T12" fmla="+- 0 4475 4365"/>
                    <a:gd name="T13" fmla="*/ T12 w 120"/>
                    <a:gd name="T14" fmla="+- 0 1558 761"/>
                    <a:gd name="T15" fmla="*/ 1558 h 897"/>
                    <a:gd name="T16" fmla="+- 0 4405 4365"/>
                    <a:gd name="T17" fmla="*/ T16 w 120"/>
                    <a:gd name="T18" fmla="+- 0 1558 761"/>
                    <a:gd name="T19" fmla="*/ 1558 h 897"/>
                    <a:gd name="T20" fmla="+- 0 4405 4365"/>
                    <a:gd name="T21" fmla="*/ T20 w 120"/>
                    <a:gd name="T22" fmla="+- 0 1538 761"/>
                    <a:gd name="T23" fmla="*/ 1538 h 897"/>
                    <a:gd name="T24" fmla="+- 0 4445 4365"/>
                    <a:gd name="T25" fmla="*/ T24 w 120"/>
                    <a:gd name="T26" fmla="+- 0 761 761"/>
                    <a:gd name="T27" fmla="*/ 761 h 897"/>
                    <a:gd name="T28" fmla="+- 0 4405 4365"/>
                    <a:gd name="T29" fmla="*/ T28 w 120"/>
                    <a:gd name="T30" fmla="+- 0 761 761"/>
                    <a:gd name="T31" fmla="*/ 761 h 897"/>
                    <a:gd name="T32" fmla="+- 0 4405 4365"/>
                    <a:gd name="T33" fmla="*/ T32 w 120"/>
                    <a:gd name="T34" fmla="+- 0 1558 761"/>
                    <a:gd name="T35" fmla="*/ 1558 h 897"/>
                    <a:gd name="T36" fmla="+- 0 4445 4365"/>
                    <a:gd name="T37" fmla="*/ T36 w 120"/>
                    <a:gd name="T38" fmla="+- 0 1558 761"/>
                    <a:gd name="T39" fmla="*/ 1558 h 897"/>
                    <a:gd name="T40" fmla="+- 0 4445 4365"/>
                    <a:gd name="T41" fmla="*/ T40 w 120"/>
                    <a:gd name="T42" fmla="+- 0 761 761"/>
                    <a:gd name="T43" fmla="*/ 761 h 897"/>
                    <a:gd name="T44" fmla="+- 0 4485 4365"/>
                    <a:gd name="T45" fmla="*/ T44 w 120"/>
                    <a:gd name="T46" fmla="+- 0 1538 761"/>
                    <a:gd name="T47" fmla="*/ 1538 h 897"/>
                    <a:gd name="T48" fmla="+- 0 4445 4365"/>
                    <a:gd name="T49" fmla="*/ T48 w 120"/>
                    <a:gd name="T50" fmla="+- 0 1538 761"/>
                    <a:gd name="T51" fmla="*/ 1538 h 897"/>
                    <a:gd name="T52" fmla="+- 0 4445 4365"/>
                    <a:gd name="T53" fmla="*/ T52 w 120"/>
                    <a:gd name="T54" fmla="+- 0 1558 761"/>
                    <a:gd name="T55" fmla="*/ 1558 h 897"/>
                    <a:gd name="T56" fmla="+- 0 4475 4365"/>
                    <a:gd name="T57" fmla="*/ T56 w 120"/>
                    <a:gd name="T58" fmla="+- 0 1558 761"/>
                    <a:gd name="T59" fmla="*/ 1558 h 897"/>
                    <a:gd name="T60" fmla="+- 0 4485 4365"/>
                    <a:gd name="T61" fmla="*/ T60 w 120"/>
                    <a:gd name="T62" fmla="+- 0 1538 761"/>
                    <a:gd name="T63" fmla="*/ 1538 h 897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  <a:cxn ang="0">
                      <a:pos x="T17" y="T19"/>
                    </a:cxn>
                    <a:cxn ang="0">
                      <a:pos x="T21" y="T23"/>
                    </a:cxn>
                    <a:cxn ang="0">
                      <a:pos x="T25" y="T27"/>
                    </a:cxn>
                    <a:cxn ang="0">
                      <a:pos x="T29" y="T31"/>
                    </a:cxn>
                    <a:cxn ang="0">
                      <a:pos x="T33" y="T35"/>
                    </a:cxn>
                    <a:cxn ang="0">
                      <a:pos x="T37" y="T39"/>
                    </a:cxn>
                    <a:cxn ang="0">
                      <a:pos x="T41" y="T43"/>
                    </a:cxn>
                    <a:cxn ang="0">
                      <a:pos x="T45" y="T47"/>
                    </a:cxn>
                    <a:cxn ang="0">
                      <a:pos x="T49" y="T51"/>
                    </a:cxn>
                    <a:cxn ang="0">
                      <a:pos x="T53" y="T55"/>
                    </a:cxn>
                    <a:cxn ang="0">
                      <a:pos x="T57" y="T59"/>
                    </a:cxn>
                    <a:cxn ang="0">
                      <a:pos x="T61" y="T63"/>
                    </a:cxn>
                  </a:cxnLst>
                  <a:rect l="0" t="0" r="r" b="b"/>
                  <a:pathLst>
                    <a:path w="120" h="897">
                      <a:moveTo>
                        <a:pt x="40" y="777"/>
                      </a:moveTo>
                      <a:lnTo>
                        <a:pt x="0" y="777"/>
                      </a:lnTo>
                      <a:lnTo>
                        <a:pt x="60" y="897"/>
                      </a:lnTo>
                      <a:lnTo>
                        <a:pt x="110" y="797"/>
                      </a:lnTo>
                      <a:lnTo>
                        <a:pt x="40" y="797"/>
                      </a:lnTo>
                      <a:lnTo>
                        <a:pt x="40" y="777"/>
                      </a:lnTo>
                      <a:close/>
                      <a:moveTo>
                        <a:pt x="80" y="0"/>
                      </a:moveTo>
                      <a:lnTo>
                        <a:pt x="40" y="0"/>
                      </a:lnTo>
                      <a:lnTo>
                        <a:pt x="40" y="797"/>
                      </a:lnTo>
                      <a:lnTo>
                        <a:pt x="80" y="797"/>
                      </a:lnTo>
                      <a:lnTo>
                        <a:pt x="80" y="0"/>
                      </a:lnTo>
                      <a:close/>
                      <a:moveTo>
                        <a:pt x="120" y="777"/>
                      </a:moveTo>
                      <a:lnTo>
                        <a:pt x="80" y="777"/>
                      </a:lnTo>
                      <a:lnTo>
                        <a:pt x="80" y="797"/>
                      </a:lnTo>
                      <a:lnTo>
                        <a:pt x="110" y="797"/>
                      </a:lnTo>
                      <a:lnTo>
                        <a:pt x="120" y="77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3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1" name="AutoShape 50"/>
                <p:cNvSpPr>
                  <a:spLocks/>
                </p:cNvSpPr>
                <p:nvPr/>
              </p:nvSpPr>
              <p:spPr bwMode="auto">
                <a:xfrm>
                  <a:off x="1583955" y="2984584"/>
                  <a:ext cx="74749" cy="761133"/>
                </a:xfrm>
                <a:custGeom>
                  <a:avLst/>
                  <a:gdLst>
                    <a:gd name="T0" fmla="+- 0 4405 4365"/>
                    <a:gd name="T1" fmla="*/ T0 w 120"/>
                    <a:gd name="T2" fmla="+- 0 1538 761"/>
                    <a:gd name="T3" fmla="*/ 1538 h 897"/>
                    <a:gd name="T4" fmla="+- 0 4365 4365"/>
                    <a:gd name="T5" fmla="*/ T4 w 120"/>
                    <a:gd name="T6" fmla="+- 0 1538 761"/>
                    <a:gd name="T7" fmla="*/ 1538 h 897"/>
                    <a:gd name="T8" fmla="+- 0 4425 4365"/>
                    <a:gd name="T9" fmla="*/ T8 w 120"/>
                    <a:gd name="T10" fmla="+- 0 1658 761"/>
                    <a:gd name="T11" fmla="*/ 1658 h 897"/>
                    <a:gd name="T12" fmla="+- 0 4475 4365"/>
                    <a:gd name="T13" fmla="*/ T12 w 120"/>
                    <a:gd name="T14" fmla="+- 0 1558 761"/>
                    <a:gd name="T15" fmla="*/ 1558 h 897"/>
                    <a:gd name="T16" fmla="+- 0 4405 4365"/>
                    <a:gd name="T17" fmla="*/ T16 w 120"/>
                    <a:gd name="T18" fmla="+- 0 1558 761"/>
                    <a:gd name="T19" fmla="*/ 1558 h 897"/>
                    <a:gd name="T20" fmla="+- 0 4405 4365"/>
                    <a:gd name="T21" fmla="*/ T20 w 120"/>
                    <a:gd name="T22" fmla="+- 0 1538 761"/>
                    <a:gd name="T23" fmla="*/ 1538 h 897"/>
                    <a:gd name="T24" fmla="+- 0 4445 4365"/>
                    <a:gd name="T25" fmla="*/ T24 w 120"/>
                    <a:gd name="T26" fmla="+- 0 761 761"/>
                    <a:gd name="T27" fmla="*/ 761 h 897"/>
                    <a:gd name="T28" fmla="+- 0 4405 4365"/>
                    <a:gd name="T29" fmla="*/ T28 w 120"/>
                    <a:gd name="T30" fmla="+- 0 761 761"/>
                    <a:gd name="T31" fmla="*/ 761 h 897"/>
                    <a:gd name="T32" fmla="+- 0 4405 4365"/>
                    <a:gd name="T33" fmla="*/ T32 w 120"/>
                    <a:gd name="T34" fmla="+- 0 1558 761"/>
                    <a:gd name="T35" fmla="*/ 1558 h 897"/>
                    <a:gd name="T36" fmla="+- 0 4445 4365"/>
                    <a:gd name="T37" fmla="*/ T36 w 120"/>
                    <a:gd name="T38" fmla="+- 0 1558 761"/>
                    <a:gd name="T39" fmla="*/ 1558 h 897"/>
                    <a:gd name="T40" fmla="+- 0 4445 4365"/>
                    <a:gd name="T41" fmla="*/ T40 w 120"/>
                    <a:gd name="T42" fmla="+- 0 761 761"/>
                    <a:gd name="T43" fmla="*/ 761 h 897"/>
                    <a:gd name="T44" fmla="+- 0 4485 4365"/>
                    <a:gd name="T45" fmla="*/ T44 w 120"/>
                    <a:gd name="T46" fmla="+- 0 1538 761"/>
                    <a:gd name="T47" fmla="*/ 1538 h 897"/>
                    <a:gd name="T48" fmla="+- 0 4445 4365"/>
                    <a:gd name="T49" fmla="*/ T48 w 120"/>
                    <a:gd name="T50" fmla="+- 0 1538 761"/>
                    <a:gd name="T51" fmla="*/ 1538 h 897"/>
                    <a:gd name="T52" fmla="+- 0 4445 4365"/>
                    <a:gd name="T53" fmla="*/ T52 w 120"/>
                    <a:gd name="T54" fmla="+- 0 1558 761"/>
                    <a:gd name="T55" fmla="*/ 1558 h 897"/>
                    <a:gd name="T56" fmla="+- 0 4475 4365"/>
                    <a:gd name="T57" fmla="*/ T56 w 120"/>
                    <a:gd name="T58" fmla="+- 0 1558 761"/>
                    <a:gd name="T59" fmla="*/ 1558 h 897"/>
                    <a:gd name="T60" fmla="+- 0 4485 4365"/>
                    <a:gd name="T61" fmla="*/ T60 w 120"/>
                    <a:gd name="T62" fmla="+- 0 1538 761"/>
                    <a:gd name="T63" fmla="*/ 1538 h 897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  <a:cxn ang="0">
                      <a:pos x="T17" y="T19"/>
                    </a:cxn>
                    <a:cxn ang="0">
                      <a:pos x="T21" y="T23"/>
                    </a:cxn>
                    <a:cxn ang="0">
                      <a:pos x="T25" y="T27"/>
                    </a:cxn>
                    <a:cxn ang="0">
                      <a:pos x="T29" y="T31"/>
                    </a:cxn>
                    <a:cxn ang="0">
                      <a:pos x="T33" y="T35"/>
                    </a:cxn>
                    <a:cxn ang="0">
                      <a:pos x="T37" y="T39"/>
                    </a:cxn>
                    <a:cxn ang="0">
                      <a:pos x="T41" y="T43"/>
                    </a:cxn>
                    <a:cxn ang="0">
                      <a:pos x="T45" y="T47"/>
                    </a:cxn>
                    <a:cxn ang="0">
                      <a:pos x="T49" y="T51"/>
                    </a:cxn>
                    <a:cxn ang="0">
                      <a:pos x="T53" y="T55"/>
                    </a:cxn>
                    <a:cxn ang="0">
                      <a:pos x="T57" y="T59"/>
                    </a:cxn>
                    <a:cxn ang="0">
                      <a:pos x="T61" y="T63"/>
                    </a:cxn>
                  </a:cxnLst>
                  <a:rect l="0" t="0" r="r" b="b"/>
                  <a:pathLst>
                    <a:path w="120" h="897">
                      <a:moveTo>
                        <a:pt x="40" y="777"/>
                      </a:moveTo>
                      <a:lnTo>
                        <a:pt x="0" y="777"/>
                      </a:lnTo>
                      <a:lnTo>
                        <a:pt x="60" y="897"/>
                      </a:lnTo>
                      <a:lnTo>
                        <a:pt x="110" y="797"/>
                      </a:lnTo>
                      <a:lnTo>
                        <a:pt x="40" y="797"/>
                      </a:lnTo>
                      <a:lnTo>
                        <a:pt x="40" y="777"/>
                      </a:lnTo>
                      <a:close/>
                      <a:moveTo>
                        <a:pt x="80" y="0"/>
                      </a:moveTo>
                      <a:lnTo>
                        <a:pt x="40" y="0"/>
                      </a:lnTo>
                      <a:lnTo>
                        <a:pt x="40" y="797"/>
                      </a:lnTo>
                      <a:lnTo>
                        <a:pt x="80" y="797"/>
                      </a:lnTo>
                      <a:lnTo>
                        <a:pt x="80" y="0"/>
                      </a:lnTo>
                      <a:close/>
                      <a:moveTo>
                        <a:pt x="120" y="777"/>
                      </a:moveTo>
                      <a:lnTo>
                        <a:pt x="80" y="777"/>
                      </a:lnTo>
                      <a:lnTo>
                        <a:pt x="80" y="797"/>
                      </a:lnTo>
                      <a:lnTo>
                        <a:pt x="110" y="797"/>
                      </a:lnTo>
                      <a:lnTo>
                        <a:pt x="120" y="77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3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2" name="AutoShape 50"/>
                <p:cNvSpPr>
                  <a:spLocks/>
                </p:cNvSpPr>
                <p:nvPr/>
              </p:nvSpPr>
              <p:spPr bwMode="auto">
                <a:xfrm>
                  <a:off x="2595494" y="2984583"/>
                  <a:ext cx="74749" cy="761133"/>
                </a:xfrm>
                <a:custGeom>
                  <a:avLst/>
                  <a:gdLst>
                    <a:gd name="T0" fmla="+- 0 4405 4365"/>
                    <a:gd name="T1" fmla="*/ T0 w 120"/>
                    <a:gd name="T2" fmla="+- 0 1538 761"/>
                    <a:gd name="T3" fmla="*/ 1538 h 897"/>
                    <a:gd name="T4" fmla="+- 0 4365 4365"/>
                    <a:gd name="T5" fmla="*/ T4 w 120"/>
                    <a:gd name="T6" fmla="+- 0 1538 761"/>
                    <a:gd name="T7" fmla="*/ 1538 h 897"/>
                    <a:gd name="T8" fmla="+- 0 4425 4365"/>
                    <a:gd name="T9" fmla="*/ T8 w 120"/>
                    <a:gd name="T10" fmla="+- 0 1658 761"/>
                    <a:gd name="T11" fmla="*/ 1658 h 897"/>
                    <a:gd name="T12" fmla="+- 0 4475 4365"/>
                    <a:gd name="T13" fmla="*/ T12 w 120"/>
                    <a:gd name="T14" fmla="+- 0 1558 761"/>
                    <a:gd name="T15" fmla="*/ 1558 h 897"/>
                    <a:gd name="T16" fmla="+- 0 4405 4365"/>
                    <a:gd name="T17" fmla="*/ T16 w 120"/>
                    <a:gd name="T18" fmla="+- 0 1558 761"/>
                    <a:gd name="T19" fmla="*/ 1558 h 897"/>
                    <a:gd name="T20" fmla="+- 0 4405 4365"/>
                    <a:gd name="T21" fmla="*/ T20 w 120"/>
                    <a:gd name="T22" fmla="+- 0 1538 761"/>
                    <a:gd name="T23" fmla="*/ 1538 h 897"/>
                    <a:gd name="T24" fmla="+- 0 4445 4365"/>
                    <a:gd name="T25" fmla="*/ T24 w 120"/>
                    <a:gd name="T26" fmla="+- 0 761 761"/>
                    <a:gd name="T27" fmla="*/ 761 h 897"/>
                    <a:gd name="T28" fmla="+- 0 4405 4365"/>
                    <a:gd name="T29" fmla="*/ T28 w 120"/>
                    <a:gd name="T30" fmla="+- 0 761 761"/>
                    <a:gd name="T31" fmla="*/ 761 h 897"/>
                    <a:gd name="T32" fmla="+- 0 4405 4365"/>
                    <a:gd name="T33" fmla="*/ T32 w 120"/>
                    <a:gd name="T34" fmla="+- 0 1558 761"/>
                    <a:gd name="T35" fmla="*/ 1558 h 897"/>
                    <a:gd name="T36" fmla="+- 0 4445 4365"/>
                    <a:gd name="T37" fmla="*/ T36 w 120"/>
                    <a:gd name="T38" fmla="+- 0 1558 761"/>
                    <a:gd name="T39" fmla="*/ 1558 h 897"/>
                    <a:gd name="T40" fmla="+- 0 4445 4365"/>
                    <a:gd name="T41" fmla="*/ T40 w 120"/>
                    <a:gd name="T42" fmla="+- 0 761 761"/>
                    <a:gd name="T43" fmla="*/ 761 h 897"/>
                    <a:gd name="T44" fmla="+- 0 4485 4365"/>
                    <a:gd name="T45" fmla="*/ T44 w 120"/>
                    <a:gd name="T46" fmla="+- 0 1538 761"/>
                    <a:gd name="T47" fmla="*/ 1538 h 897"/>
                    <a:gd name="T48" fmla="+- 0 4445 4365"/>
                    <a:gd name="T49" fmla="*/ T48 w 120"/>
                    <a:gd name="T50" fmla="+- 0 1538 761"/>
                    <a:gd name="T51" fmla="*/ 1538 h 897"/>
                    <a:gd name="T52" fmla="+- 0 4445 4365"/>
                    <a:gd name="T53" fmla="*/ T52 w 120"/>
                    <a:gd name="T54" fmla="+- 0 1558 761"/>
                    <a:gd name="T55" fmla="*/ 1558 h 897"/>
                    <a:gd name="T56" fmla="+- 0 4475 4365"/>
                    <a:gd name="T57" fmla="*/ T56 w 120"/>
                    <a:gd name="T58" fmla="+- 0 1558 761"/>
                    <a:gd name="T59" fmla="*/ 1558 h 897"/>
                    <a:gd name="T60" fmla="+- 0 4485 4365"/>
                    <a:gd name="T61" fmla="*/ T60 w 120"/>
                    <a:gd name="T62" fmla="+- 0 1538 761"/>
                    <a:gd name="T63" fmla="*/ 1538 h 897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  <a:cxn ang="0">
                      <a:pos x="T17" y="T19"/>
                    </a:cxn>
                    <a:cxn ang="0">
                      <a:pos x="T21" y="T23"/>
                    </a:cxn>
                    <a:cxn ang="0">
                      <a:pos x="T25" y="T27"/>
                    </a:cxn>
                    <a:cxn ang="0">
                      <a:pos x="T29" y="T31"/>
                    </a:cxn>
                    <a:cxn ang="0">
                      <a:pos x="T33" y="T35"/>
                    </a:cxn>
                    <a:cxn ang="0">
                      <a:pos x="T37" y="T39"/>
                    </a:cxn>
                    <a:cxn ang="0">
                      <a:pos x="T41" y="T43"/>
                    </a:cxn>
                    <a:cxn ang="0">
                      <a:pos x="T45" y="T47"/>
                    </a:cxn>
                    <a:cxn ang="0">
                      <a:pos x="T49" y="T51"/>
                    </a:cxn>
                    <a:cxn ang="0">
                      <a:pos x="T53" y="T55"/>
                    </a:cxn>
                    <a:cxn ang="0">
                      <a:pos x="T57" y="T59"/>
                    </a:cxn>
                    <a:cxn ang="0">
                      <a:pos x="T61" y="T63"/>
                    </a:cxn>
                  </a:cxnLst>
                  <a:rect l="0" t="0" r="r" b="b"/>
                  <a:pathLst>
                    <a:path w="120" h="897">
                      <a:moveTo>
                        <a:pt x="40" y="777"/>
                      </a:moveTo>
                      <a:lnTo>
                        <a:pt x="0" y="777"/>
                      </a:lnTo>
                      <a:lnTo>
                        <a:pt x="60" y="897"/>
                      </a:lnTo>
                      <a:lnTo>
                        <a:pt x="110" y="797"/>
                      </a:lnTo>
                      <a:lnTo>
                        <a:pt x="40" y="797"/>
                      </a:lnTo>
                      <a:lnTo>
                        <a:pt x="40" y="777"/>
                      </a:lnTo>
                      <a:close/>
                      <a:moveTo>
                        <a:pt x="80" y="0"/>
                      </a:moveTo>
                      <a:lnTo>
                        <a:pt x="40" y="0"/>
                      </a:lnTo>
                      <a:lnTo>
                        <a:pt x="40" y="797"/>
                      </a:lnTo>
                      <a:lnTo>
                        <a:pt x="80" y="797"/>
                      </a:lnTo>
                      <a:lnTo>
                        <a:pt x="80" y="0"/>
                      </a:lnTo>
                      <a:close/>
                      <a:moveTo>
                        <a:pt x="120" y="777"/>
                      </a:moveTo>
                      <a:lnTo>
                        <a:pt x="80" y="777"/>
                      </a:lnTo>
                      <a:lnTo>
                        <a:pt x="80" y="797"/>
                      </a:lnTo>
                      <a:lnTo>
                        <a:pt x="110" y="797"/>
                      </a:lnTo>
                      <a:lnTo>
                        <a:pt x="120" y="77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3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3" name="AutoShape 50"/>
                <p:cNvSpPr>
                  <a:spLocks/>
                </p:cNvSpPr>
                <p:nvPr/>
              </p:nvSpPr>
              <p:spPr bwMode="auto">
                <a:xfrm>
                  <a:off x="3622847" y="2998936"/>
                  <a:ext cx="74749" cy="761133"/>
                </a:xfrm>
                <a:custGeom>
                  <a:avLst/>
                  <a:gdLst>
                    <a:gd name="T0" fmla="+- 0 4405 4365"/>
                    <a:gd name="T1" fmla="*/ T0 w 120"/>
                    <a:gd name="T2" fmla="+- 0 1538 761"/>
                    <a:gd name="T3" fmla="*/ 1538 h 897"/>
                    <a:gd name="T4" fmla="+- 0 4365 4365"/>
                    <a:gd name="T5" fmla="*/ T4 w 120"/>
                    <a:gd name="T6" fmla="+- 0 1538 761"/>
                    <a:gd name="T7" fmla="*/ 1538 h 897"/>
                    <a:gd name="T8" fmla="+- 0 4425 4365"/>
                    <a:gd name="T9" fmla="*/ T8 w 120"/>
                    <a:gd name="T10" fmla="+- 0 1658 761"/>
                    <a:gd name="T11" fmla="*/ 1658 h 897"/>
                    <a:gd name="T12" fmla="+- 0 4475 4365"/>
                    <a:gd name="T13" fmla="*/ T12 w 120"/>
                    <a:gd name="T14" fmla="+- 0 1558 761"/>
                    <a:gd name="T15" fmla="*/ 1558 h 897"/>
                    <a:gd name="T16" fmla="+- 0 4405 4365"/>
                    <a:gd name="T17" fmla="*/ T16 w 120"/>
                    <a:gd name="T18" fmla="+- 0 1558 761"/>
                    <a:gd name="T19" fmla="*/ 1558 h 897"/>
                    <a:gd name="T20" fmla="+- 0 4405 4365"/>
                    <a:gd name="T21" fmla="*/ T20 w 120"/>
                    <a:gd name="T22" fmla="+- 0 1538 761"/>
                    <a:gd name="T23" fmla="*/ 1538 h 897"/>
                    <a:gd name="T24" fmla="+- 0 4445 4365"/>
                    <a:gd name="T25" fmla="*/ T24 w 120"/>
                    <a:gd name="T26" fmla="+- 0 761 761"/>
                    <a:gd name="T27" fmla="*/ 761 h 897"/>
                    <a:gd name="T28" fmla="+- 0 4405 4365"/>
                    <a:gd name="T29" fmla="*/ T28 w 120"/>
                    <a:gd name="T30" fmla="+- 0 761 761"/>
                    <a:gd name="T31" fmla="*/ 761 h 897"/>
                    <a:gd name="T32" fmla="+- 0 4405 4365"/>
                    <a:gd name="T33" fmla="*/ T32 w 120"/>
                    <a:gd name="T34" fmla="+- 0 1558 761"/>
                    <a:gd name="T35" fmla="*/ 1558 h 897"/>
                    <a:gd name="T36" fmla="+- 0 4445 4365"/>
                    <a:gd name="T37" fmla="*/ T36 w 120"/>
                    <a:gd name="T38" fmla="+- 0 1558 761"/>
                    <a:gd name="T39" fmla="*/ 1558 h 897"/>
                    <a:gd name="T40" fmla="+- 0 4445 4365"/>
                    <a:gd name="T41" fmla="*/ T40 w 120"/>
                    <a:gd name="T42" fmla="+- 0 761 761"/>
                    <a:gd name="T43" fmla="*/ 761 h 897"/>
                    <a:gd name="T44" fmla="+- 0 4485 4365"/>
                    <a:gd name="T45" fmla="*/ T44 w 120"/>
                    <a:gd name="T46" fmla="+- 0 1538 761"/>
                    <a:gd name="T47" fmla="*/ 1538 h 897"/>
                    <a:gd name="T48" fmla="+- 0 4445 4365"/>
                    <a:gd name="T49" fmla="*/ T48 w 120"/>
                    <a:gd name="T50" fmla="+- 0 1538 761"/>
                    <a:gd name="T51" fmla="*/ 1538 h 897"/>
                    <a:gd name="T52" fmla="+- 0 4445 4365"/>
                    <a:gd name="T53" fmla="*/ T52 w 120"/>
                    <a:gd name="T54" fmla="+- 0 1558 761"/>
                    <a:gd name="T55" fmla="*/ 1558 h 897"/>
                    <a:gd name="T56" fmla="+- 0 4475 4365"/>
                    <a:gd name="T57" fmla="*/ T56 w 120"/>
                    <a:gd name="T58" fmla="+- 0 1558 761"/>
                    <a:gd name="T59" fmla="*/ 1558 h 897"/>
                    <a:gd name="T60" fmla="+- 0 4485 4365"/>
                    <a:gd name="T61" fmla="*/ T60 w 120"/>
                    <a:gd name="T62" fmla="+- 0 1538 761"/>
                    <a:gd name="T63" fmla="*/ 1538 h 897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  <a:cxn ang="0">
                      <a:pos x="T17" y="T19"/>
                    </a:cxn>
                    <a:cxn ang="0">
                      <a:pos x="T21" y="T23"/>
                    </a:cxn>
                    <a:cxn ang="0">
                      <a:pos x="T25" y="T27"/>
                    </a:cxn>
                    <a:cxn ang="0">
                      <a:pos x="T29" y="T31"/>
                    </a:cxn>
                    <a:cxn ang="0">
                      <a:pos x="T33" y="T35"/>
                    </a:cxn>
                    <a:cxn ang="0">
                      <a:pos x="T37" y="T39"/>
                    </a:cxn>
                    <a:cxn ang="0">
                      <a:pos x="T41" y="T43"/>
                    </a:cxn>
                    <a:cxn ang="0">
                      <a:pos x="T45" y="T47"/>
                    </a:cxn>
                    <a:cxn ang="0">
                      <a:pos x="T49" y="T51"/>
                    </a:cxn>
                    <a:cxn ang="0">
                      <a:pos x="T53" y="T55"/>
                    </a:cxn>
                    <a:cxn ang="0">
                      <a:pos x="T57" y="T59"/>
                    </a:cxn>
                    <a:cxn ang="0">
                      <a:pos x="T61" y="T63"/>
                    </a:cxn>
                  </a:cxnLst>
                  <a:rect l="0" t="0" r="r" b="b"/>
                  <a:pathLst>
                    <a:path w="120" h="897">
                      <a:moveTo>
                        <a:pt x="40" y="777"/>
                      </a:moveTo>
                      <a:lnTo>
                        <a:pt x="0" y="777"/>
                      </a:lnTo>
                      <a:lnTo>
                        <a:pt x="60" y="897"/>
                      </a:lnTo>
                      <a:lnTo>
                        <a:pt x="110" y="797"/>
                      </a:lnTo>
                      <a:lnTo>
                        <a:pt x="40" y="797"/>
                      </a:lnTo>
                      <a:lnTo>
                        <a:pt x="40" y="777"/>
                      </a:lnTo>
                      <a:close/>
                      <a:moveTo>
                        <a:pt x="80" y="0"/>
                      </a:moveTo>
                      <a:lnTo>
                        <a:pt x="40" y="0"/>
                      </a:lnTo>
                      <a:lnTo>
                        <a:pt x="40" y="797"/>
                      </a:lnTo>
                      <a:lnTo>
                        <a:pt x="80" y="797"/>
                      </a:lnTo>
                      <a:lnTo>
                        <a:pt x="80" y="0"/>
                      </a:lnTo>
                      <a:close/>
                      <a:moveTo>
                        <a:pt x="120" y="777"/>
                      </a:moveTo>
                      <a:lnTo>
                        <a:pt x="80" y="777"/>
                      </a:lnTo>
                      <a:lnTo>
                        <a:pt x="80" y="797"/>
                      </a:lnTo>
                      <a:lnTo>
                        <a:pt x="110" y="797"/>
                      </a:lnTo>
                      <a:lnTo>
                        <a:pt x="120" y="77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3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4" name="AutoShape 50"/>
                <p:cNvSpPr>
                  <a:spLocks/>
                </p:cNvSpPr>
                <p:nvPr/>
              </p:nvSpPr>
              <p:spPr bwMode="auto">
                <a:xfrm>
                  <a:off x="4684319" y="3010418"/>
                  <a:ext cx="74749" cy="761133"/>
                </a:xfrm>
                <a:custGeom>
                  <a:avLst/>
                  <a:gdLst>
                    <a:gd name="T0" fmla="+- 0 4405 4365"/>
                    <a:gd name="T1" fmla="*/ T0 w 120"/>
                    <a:gd name="T2" fmla="+- 0 1538 761"/>
                    <a:gd name="T3" fmla="*/ 1538 h 897"/>
                    <a:gd name="T4" fmla="+- 0 4365 4365"/>
                    <a:gd name="T5" fmla="*/ T4 w 120"/>
                    <a:gd name="T6" fmla="+- 0 1538 761"/>
                    <a:gd name="T7" fmla="*/ 1538 h 897"/>
                    <a:gd name="T8" fmla="+- 0 4425 4365"/>
                    <a:gd name="T9" fmla="*/ T8 w 120"/>
                    <a:gd name="T10" fmla="+- 0 1658 761"/>
                    <a:gd name="T11" fmla="*/ 1658 h 897"/>
                    <a:gd name="T12" fmla="+- 0 4475 4365"/>
                    <a:gd name="T13" fmla="*/ T12 w 120"/>
                    <a:gd name="T14" fmla="+- 0 1558 761"/>
                    <a:gd name="T15" fmla="*/ 1558 h 897"/>
                    <a:gd name="T16" fmla="+- 0 4405 4365"/>
                    <a:gd name="T17" fmla="*/ T16 w 120"/>
                    <a:gd name="T18" fmla="+- 0 1558 761"/>
                    <a:gd name="T19" fmla="*/ 1558 h 897"/>
                    <a:gd name="T20" fmla="+- 0 4405 4365"/>
                    <a:gd name="T21" fmla="*/ T20 w 120"/>
                    <a:gd name="T22" fmla="+- 0 1538 761"/>
                    <a:gd name="T23" fmla="*/ 1538 h 897"/>
                    <a:gd name="T24" fmla="+- 0 4445 4365"/>
                    <a:gd name="T25" fmla="*/ T24 w 120"/>
                    <a:gd name="T26" fmla="+- 0 761 761"/>
                    <a:gd name="T27" fmla="*/ 761 h 897"/>
                    <a:gd name="T28" fmla="+- 0 4405 4365"/>
                    <a:gd name="T29" fmla="*/ T28 w 120"/>
                    <a:gd name="T30" fmla="+- 0 761 761"/>
                    <a:gd name="T31" fmla="*/ 761 h 897"/>
                    <a:gd name="T32" fmla="+- 0 4405 4365"/>
                    <a:gd name="T33" fmla="*/ T32 w 120"/>
                    <a:gd name="T34" fmla="+- 0 1558 761"/>
                    <a:gd name="T35" fmla="*/ 1558 h 897"/>
                    <a:gd name="T36" fmla="+- 0 4445 4365"/>
                    <a:gd name="T37" fmla="*/ T36 w 120"/>
                    <a:gd name="T38" fmla="+- 0 1558 761"/>
                    <a:gd name="T39" fmla="*/ 1558 h 897"/>
                    <a:gd name="T40" fmla="+- 0 4445 4365"/>
                    <a:gd name="T41" fmla="*/ T40 w 120"/>
                    <a:gd name="T42" fmla="+- 0 761 761"/>
                    <a:gd name="T43" fmla="*/ 761 h 897"/>
                    <a:gd name="T44" fmla="+- 0 4485 4365"/>
                    <a:gd name="T45" fmla="*/ T44 w 120"/>
                    <a:gd name="T46" fmla="+- 0 1538 761"/>
                    <a:gd name="T47" fmla="*/ 1538 h 897"/>
                    <a:gd name="T48" fmla="+- 0 4445 4365"/>
                    <a:gd name="T49" fmla="*/ T48 w 120"/>
                    <a:gd name="T50" fmla="+- 0 1538 761"/>
                    <a:gd name="T51" fmla="*/ 1538 h 897"/>
                    <a:gd name="T52" fmla="+- 0 4445 4365"/>
                    <a:gd name="T53" fmla="*/ T52 w 120"/>
                    <a:gd name="T54" fmla="+- 0 1558 761"/>
                    <a:gd name="T55" fmla="*/ 1558 h 897"/>
                    <a:gd name="T56" fmla="+- 0 4475 4365"/>
                    <a:gd name="T57" fmla="*/ T56 w 120"/>
                    <a:gd name="T58" fmla="+- 0 1558 761"/>
                    <a:gd name="T59" fmla="*/ 1558 h 897"/>
                    <a:gd name="T60" fmla="+- 0 4485 4365"/>
                    <a:gd name="T61" fmla="*/ T60 w 120"/>
                    <a:gd name="T62" fmla="+- 0 1538 761"/>
                    <a:gd name="T63" fmla="*/ 1538 h 897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  <a:cxn ang="0">
                      <a:pos x="T17" y="T19"/>
                    </a:cxn>
                    <a:cxn ang="0">
                      <a:pos x="T21" y="T23"/>
                    </a:cxn>
                    <a:cxn ang="0">
                      <a:pos x="T25" y="T27"/>
                    </a:cxn>
                    <a:cxn ang="0">
                      <a:pos x="T29" y="T31"/>
                    </a:cxn>
                    <a:cxn ang="0">
                      <a:pos x="T33" y="T35"/>
                    </a:cxn>
                    <a:cxn ang="0">
                      <a:pos x="T37" y="T39"/>
                    </a:cxn>
                    <a:cxn ang="0">
                      <a:pos x="T41" y="T43"/>
                    </a:cxn>
                    <a:cxn ang="0">
                      <a:pos x="T45" y="T47"/>
                    </a:cxn>
                    <a:cxn ang="0">
                      <a:pos x="T49" y="T51"/>
                    </a:cxn>
                    <a:cxn ang="0">
                      <a:pos x="T53" y="T55"/>
                    </a:cxn>
                    <a:cxn ang="0">
                      <a:pos x="T57" y="T59"/>
                    </a:cxn>
                    <a:cxn ang="0">
                      <a:pos x="T61" y="T63"/>
                    </a:cxn>
                  </a:cxnLst>
                  <a:rect l="0" t="0" r="r" b="b"/>
                  <a:pathLst>
                    <a:path w="120" h="897">
                      <a:moveTo>
                        <a:pt x="40" y="777"/>
                      </a:moveTo>
                      <a:lnTo>
                        <a:pt x="0" y="777"/>
                      </a:lnTo>
                      <a:lnTo>
                        <a:pt x="60" y="897"/>
                      </a:lnTo>
                      <a:lnTo>
                        <a:pt x="110" y="797"/>
                      </a:lnTo>
                      <a:lnTo>
                        <a:pt x="40" y="797"/>
                      </a:lnTo>
                      <a:lnTo>
                        <a:pt x="40" y="777"/>
                      </a:lnTo>
                      <a:close/>
                      <a:moveTo>
                        <a:pt x="80" y="0"/>
                      </a:moveTo>
                      <a:lnTo>
                        <a:pt x="40" y="0"/>
                      </a:lnTo>
                      <a:lnTo>
                        <a:pt x="40" y="797"/>
                      </a:lnTo>
                      <a:lnTo>
                        <a:pt x="80" y="797"/>
                      </a:lnTo>
                      <a:lnTo>
                        <a:pt x="80" y="0"/>
                      </a:lnTo>
                      <a:close/>
                      <a:moveTo>
                        <a:pt x="120" y="777"/>
                      </a:moveTo>
                      <a:lnTo>
                        <a:pt x="80" y="777"/>
                      </a:lnTo>
                      <a:lnTo>
                        <a:pt x="80" y="797"/>
                      </a:lnTo>
                      <a:lnTo>
                        <a:pt x="110" y="797"/>
                      </a:lnTo>
                      <a:lnTo>
                        <a:pt x="120" y="77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3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5" name="AutoShape 50"/>
                <p:cNvSpPr>
                  <a:spLocks/>
                </p:cNvSpPr>
                <p:nvPr/>
              </p:nvSpPr>
              <p:spPr bwMode="auto">
                <a:xfrm>
                  <a:off x="5681694" y="2984582"/>
                  <a:ext cx="74749" cy="761133"/>
                </a:xfrm>
                <a:custGeom>
                  <a:avLst/>
                  <a:gdLst>
                    <a:gd name="T0" fmla="+- 0 4405 4365"/>
                    <a:gd name="T1" fmla="*/ T0 w 120"/>
                    <a:gd name="T2" fmla="+- 0 1538 761"/>
                    <a:gd name="T3" fmla="*/ 1538 h 897"/>
                    <a:gd name="T4" fmla="+- 0 4365 4365"/>
                    <a:gd name="T5" fmla="*/ T4 w 120"/>
                    <a:gd name="T6" fmla="+- 0 1538 761"/>
                    <a:gd name="T7" fmla="*/ 1538 h 897"/>
                    <a:gd name="T8" fmla="+- 0 4425 4365"/>
                    <a:gd name="T9" fmla="*/ T8 w 120"/>
                    <a:gd name="T10" fmla="+- 0 1658 761"/>
                    <a:gd name="T11" fmla="*/ 1658 h 897"/>
                    <a:gd name="T12" fmla="+- 0 4475 4365"/>
                    <a:gd name="T13" fmla="*/ T12 w 120"/>
                    <a:gd name="T14" fmla="+- 0 1558 761"/>
                    <a:gd name="T15" fmla="*/ 1558 h 897"/>
                    <a:gd name="T16" fmla="+- 0 4405 4365"/>
                    <a:gd name="T17" fmla="*/ T16 w 120"/>
                    <a:gd name="T18" fmla="+- 0 1558 761"/>
                    <a:gd name="T19" fmla="*/ 1558 h 897"/>
                    <a:gd name="T20" fmla="+- 0 4405 4365"/>
                    <a:gd name="T21" fmla="*/ T20 w 120"/>
                    <a:gd name="T22" fmla="+- 0 1538 761"/>
                    <a:gd name="T23" fmla="*/ 1538 h 897"/>
                    <a:gd name="T24" fmla="+- 0 4445 4365"/>
                    <a:gd name="T25" fmla="*/ T24 w 120"/>
                    <a:gd name="T26" fmla="+- 0 761 761"/>
                    <a:gd name="T27" fmla="*/ 761 h 897"/>
                    <a:gd name="T28" fmla="+- 0 4405 4365"/>
                    <a:gd name="T29" fmla="*/ T28 w 120"/>
                    <a:gd name="T30" fmla="+- 0 761 761"/>
                    <a:gd name="T31" fmla="*/ 761 h 897"/>
                    <a:gd name="T32" fmla="+- 0 4405 4365"/>
                    <a:gd name="T33" fmla="*/ T32 w 120"/>
                    <a:gd name="T34" fmla="+- 0 1558 761"/>
                    <a:gd name="T35" fmla="*/ 1558 h 897"/>
                    <a:gd name="T36" fmla="+- 0 4445 4365"/>
                    <a:gd name="T37" fmla="*/ T36 w 120"/>
                    <a:gd name="T38" fmla="+- 0 1558 761"/>
                    <a:gd name="T39" fmla="*/ 1558 h 897"/>
                    <a:gd name="T40" fmla="+- 0 4445 4365"/>
                    <a:gd name="T41" fmla="*/ T40 w 120"/>
                    <a:gd name="T42" fmla="+- 0 761 761"/>
                    <a:gd name="T43" fmla="*/ 761 h 897"/>
                    <a:gd name="T44" fmla="+- 0 4485 4365"/>
                    <a:gd name="T45" fmla="*/ T44 w 120"/>
                    <a:gd name="T46" fmla="+- 0 1538 761"/>
                    <a:gd name="T47" fmla="*/ 1538 h 897"/>
                    <a:gd name="T48" fmla="+- 0 4445 4365"/>
                    <a:gd name="T49" fmla="*/ T48 w 120"/>
                    <a:gd name="T50" fmla="+- 0 1538 761"/>
                    <a:gd name="T51" fmla="*/ 1538 h 897"/>
                    <a:gd name="T52" fmla="+- 0 4445 4365"/>
                    <a:gd name="T53" fmla="*/ T52 w 120"/>
                    <a:gd name="T54" fmla="+- 0 1558 761"/>
                    <a:gd name="T55" fmla="*/ 1558 h 897"/>
                    <a:gd name="T56" fmla="+- 0 4475 4365"/>
                    <a:gd name="T57" fmla="*/ T56 w 120"/>
                    <a:gd name="T58" fmla="+- 0 1558 761"/>
                    <a:gd name="T59" fmla="*/ 1558 h 897"/>
                    <a:gd name="T60" fmla="+- 0 4485 4365"/>
                    <a:gd name="T61" fmla="*/ T60 w 120"/>
                    <a:gd name="T62" fmla="+- 0 1538 761"/>
                    <a:gd name="T63" fmla="*/ 1538 h 897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  <a:cxn ang="0">
                      <a:pos x="T17" y="T19"/>
                    </a:cxn>
                    <a:cxn ang="0">
                      <a:pos x="T21" y="T23"/>
                    </a:cxn>
                    <a:cxn ang="0">
                      <a:pos x="T25" y="T27"/>
                    </a:cxn>
                    <a:cxn ang="0">
                      <a:pos x="T29" y="T31"/>
                    </a:cxn>
                    <a:cxn ang="0">
                      <a:pos x="T33" y="T35"/>
                    </a:cxn>
                    <a:cxn ang="0">
                      <a:pos x="T37" y="T39"/>
                    </a:cxn>
                    <a:cxn ang="0">
                      <a:pos x="T41" y="T43"/>
                    </a:cxn>
                    <a:cxn ang="0">
                      <a:pos x="T45" y="T47"/>
                    </a:cxn>
                    <a:cxn ang="0">
                      <a:pos x="T49" y="T51"/>
                    </a:cxn>
                    <a:cxn ang="0">
                      <a:pos x="T53" y="T55"/>
                    </a:cxn>
                    <a:cxn ang="0">
                      <a:pos x="T57" y="T59"/>
                    </a:cxn>
                    <a:cxn ang="0">
                      <a:pos x="T61" y="T63"/>
                    </a:cxn>
                  </a:cxnLst>
                  <a:rect l="0" t="0" r="r" b="b"/>
                  <a:pathLst>
                    <a:path w="120" h="897">
                      <a:moveTo>
                        <a:pt x="40" y="777"/>
                      </a:moveTo>
                      <a:lnTo>
                        <a:pt x="0" y="777"/>
                      </a:lnTo>
                      <a:lnTo>
                        <a:pt x="60" y="897"/>
                      </a:lnTo>
                      <a:lnTo>
                        <a:pt x="110" y="797"/>
                      </a:lnTo>
                      <a:lnTo>
                        <a:pt x="40" y="797"/>
                      </a:lnTo>
                      <a:lnTo>
                        <a:pt x="40" y="777"/>
                      </a:lnTo>
                      <a:close/>
                      <a:moveTo>
                        <a:pt x="80" y="0"/>
                      </a:moveTo>
                      <a:lnTo>
                        <a:pt x="40" y="0"/>
                      </a:lnTo>
                      <a:lnTo>
                        <a:pt x="40" y="797"/>
                      </a:lnTo>
                      <a:lnTo>
                        <a:pt x="80" y="797"/>
                      </a:lnTo>
                      <a:lnTo>
                        <a:pt x="80" y="0"/>
                      </a:lnTo>
                      <a:close/>
                      <a:moveTo>
                        <a:pt x="120" y="777"/>
                      </a:moveTo>
                      <a:lnTo>
                        <a:pt x="80" y="777"/>
                      </a:lnTo>
                      <a:lnTo>
                        <a:pt x="80" y="797"/>
                      </a:lnTo>
                      <a:lnTo>
                        <a:pt x="110" y="797"/>
                      </a:lnTo>
                      <a:lnTo>
                        <a:pt x="120" y="77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3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6" name="AutoShape 50"/>
                <p:cNvSpPr>
                  <a:spLocks/>
                </p:cNvSpPr>
                <p:nvPr/>
              </p:nvSpPr>
              <p:spPr bwMode="auto">
                <a:xfrm>
                  <a:off x="6672937" y="2997243"/>
                  <a:ext cx="74749" cy="761133"/>
                </a:xfrm>
                <a:custGeom>
                  <a:avLst/>
                  <a:gdLst>
                    <a:gd name="T0" fmla="+- 0 4405 4365"/>
                    <a:gd name="T1" fmla="*/ T0 w 120"/>
                    <a:gd name="T2" fmla="+- 0 1538 761"/>
                    <a:gd name="T3" fmla="*/ 1538 h 897"/>
                    <a:gd name="T4" fmla="+- 0 4365 4365"/>
                    <a:gd name="T5" fmla="*/ T4 w 120"/>
                    <a:gd name="T6" fmla="+- 0 1538 761"/>
                    <a:gd name="T7" fmla="*/ 1538 h 897"/>
                    <a:gd name="T8" fmla="+- 0 4425 4365"/>
                    <a:gd name="T9" fmla="*/ T8 w 120"/>
                    <a:gd name="T10" fmla="+- 0 1658 761"/>
                    <a:gd name="T11" fmla="*/ 1658 h 897"/>
                    <a:gd name="T12" fmla="+- 0 4475 4365"/>
                    <a:gd name="T13" fmla="*/ T12 w 120"/>
                    <a:gd name="T14" fmla="+- 0 1558 761"/>
                    <a:gd name="T15" fmla="*/ 1558 h 897"/>
                    <a:gd name="T16" fmla="+- 0 4405 4365"/>
                    <a:gd name="T17" fmla="*/ T16 w 120"/>
                    <a:gd name="T18" fmla="+- 0 1558 761"/>
                    <a:gd name="T19" fmla="*/ 1558 h 897"/>
                    <a:gd name="T20" fmla="+- 0 4405 4365"/>
                    <a:gd name="T21" fmla="*/ T20 w 120"/>
                    <a:gd name="T22" fmla="+- 0 1538 761"/>
                    <a:gd name="T23" fmla="*/ 1538 h 897"/>
                    <a:gd name="T24" fmla="+- 0 4445 4365"/>
                    <a:gd name="T25" fmla="*/ T24 w 120"/>
                    <a:gd name="T26" fmla="+- 0 761 761"/>
                    <a:gd name="T27" fmla="*/ 761 h 897"/>
                    <a:gd name="T28" fmla="+- 0 4405 4365"/>
                    <a:gd name="T29" fmla="*/ T28 w 120"/>
                    <a:gd name="T30" fmla="+- 0 761 761"/>
                    <a:gd name="T31" fmla="*/ 761 h 897"/>
                    <a:gd name="T32" fmla="+- 0 4405 4365"/>
                    <a:gd name="T33" fmla="*/ T32 w 120"/>
                    <a:gd name="T34" fmla="+- 0 1558 761"/>
                    <a:gd name="T35" fmla="*/ 1558 h 897"/>
                    <a:gd name="T36" fmla="+- 0 4445 4365"/>
                    <a:gd name="T37" fmla="*/ T36 w 120"/>
                    <a:gd name="T38" fmla="+- 0 1558 761"/>
                    <a:gd name="T39" fmla="*/ 1558 h 897"/>
                    <a:gd name="T40" fmla="+- 0 4445 4365"/>
                    <a:gd name="T41" fmla="*/ T40 w 120"/>
                    <a:gd name="T42" fmla="+- 0 761 761"/>
                    <a:gd name="T43" fmla="*/ 761 h 897"/>
                    <a:gd name="T44" fmla="+- 0 4485 4365"/>
                    <a:gd name="T45" fmla="*/ T44 w 120"/>
                    <a:gd name="T46" fmla="+- 0 1538 761"/>
                    <a:gd name="T47" fmla="*/ 1538 h 897"/>
                    <a:gd name="T48" fmla="+- 0 4445 4365"/>
                    <a:gd name="T49" fmla="*/ T48 w 120"/>
                    <a:gd name="T50" fmla="+- 0 1538 761"/>
                    <a:gd name="T51" fmla="*/ 1538 h 897"/>
                    <a:gd name="T52" fmla="+- 0 4445 4365"/>
                    <a:gd name="T53" fmla="*/ T52 w 120"/>
                    <a:gd name="T54" fmla="+- 0 1558 761"/>
                    <a:gd name="T55" fmla="*/ 1558 h 897"/>
                    <a:gd name="T56" fmla="+- 0 4475 4365"/>
                    <a:gd name="T57" fmla="*/ T56 w 120"/>
                    <a:gd name="T58" fmla="+- 0 1558 761"/>
                    <a:gd name="T59" fmla="*/ 1558 h 897"/>
                    <a:gd name="T60" fmla="+- 0 4485 4365"/>
                    <a:gd name="T61" fmla="*/ T60 w 120"/>
                    <a:gd name="T62" fmla="+- 0 1538 761"/>
                    <a:gd name="T63" fmla="*/ 1538 h 897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  <a:cxn ang="0">
                      <a:pos x="T17" y="T19"/>
                    </a:cxn>
                    <a:cxn ang="0">
                      <a:pos x="T21" y="T23"/>
                    </a:cxn>
                    <a:cxn ang="0">
                      <a:pos x="T25" y="T27"/>
                    </a:cxn>
                    <a:cxn ang="0">
                      <a:pos x="T29" y="T31"/>
                    </a:cxn>
                    <a:cxn ang="0">
                      <a:pos x="T33" y="T35"/>
                    </a:cxn>
                    <a:cxn ang="0">
                      <a:pos x="T37" y="T39"/>
                    </a:cxn>
                    <a:cxn ang="0">
                      <a:pos x="T41" y="T43"/>
                    </a:cxn>
                    <a:cxn ang="0">
                      <a:pos x="T45" y="T47"/>
                    </a:cxn>
                    <a:cxn ang="0">
                      <a:pos x="T49" y="T51"/>
                    </a:cxn>
                    <a:cxn ang="0">
                      <a:pos x="T53" y="T55"/>
                    </a:cxn>
                    <a:cxn ang="0">
                      <a:pos x="T57" y="T59"/>
                    </a:cxn>
                    <a:cxn ang="0">
                      <a:pos x="T61" y="T63"/>
                    </a:cxn>
                  </a:cxnLst>
                  <a:rect l="0" t="0" r="r" b="b"/>
                  <a:pathLst>
                    <a:path w="120" h="897">
                      <a:moveTo>
                        <a:pt x="40" y="777"/>
                      </a:moveTo>
                      <a:lnTo>
                        <a:pt x="0" y="777"/>
                      </a:lnTo>
                      <a:lnTo>
                        <a:pt x="60" y="897"/>
                      </a:lnTo>
                      <a:lnTo>
                        <a:pt x="110" y="797"/>
                      </a:lnTo>
                      <a:lnTo>
                        <a:pt x="40" y="797"/>
                      </a:lnTo>
                      <a:lnTo>
                        <a:pt x="40" y="777"/>
                      </a:lnTo>
                      <a:close/>
                      <a:moveTo>
                        <a:pt x="80" y="0"/>
                      </a:moveTo>
                      <a:lnTo>
                        <a:pt x="40" y="0"/>
                      </a:lnTo>
                      <a:lnTo>
                        <a:pt x="40" y="797"/>
                      </a:lnTo>
                      <a:lnTo>
                        <a:pt x="80" y="797"/>
                      </a:lnTo>
                      <a:lnTo>
                        <a:pt x="80" y="0"/>
                      </a:lnTo>
                      <a:close/>
                      <a:moveTo>
                        <a:pt x="120" y="777"/>
                      </a:moveTo>
                      <a:lnTo>
                        <a:pt x="80" y="777"/>
                      </a:lnTo>
                      <a:lnTo>
                        <a:pt x="80" y="797"/>
                      </a:lnTo>
                      <a:lnTo>
                        <a:pt x="110" y="797"/>
                      </a:lnTo>
                      <a:lnTo>
                        <a:pt x="120" y="77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3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7" name="AutoShape 50"/>
                <p:cNvSpPr>
                  <a:spLocks/>
                </p:cNvSpPr>
                <p:nvPr/>
              </p:nvSpPr>
              <p:spPr bwMode="auto">
                <a:xfrm>
                  <a:off x="7747563" y="2984581"/>
                  <a:ext cx="74749" cy="761133"/>
                </a:xfrm>
                <a:custGeom>
                  <a:avLst/>
                  <a:gdLst>
                    <a:gd name="T0" fmla="+- 0 4405 4365"/>
                    <a:gd name="T1" fmla="*/ T0 w 120"/>
                    <a:gd name="T2" fmla="+- 0 1538 761"/>
                    <a:gd name="T3" fmla="*/ 1538 h 897"/>
                    <a:gd name="T4" fmla="+- 0 4365 4365"/>
                    <a:gd name="T5" fmla="*/ T4 w 120"/>
                    <a:gd name="T6" fmla="+- 0 1538 761"/>
                    <a:gd name="T7" fmla="*/ 1538 h 897"/>
                    <a:gd name="T8" fmla="+- 0 4425 4365"/>
                    <a:gd name="T9" fmla="*/ T8 w 120"/>
                    <a:gd name="T10" fmla="+- 0 1658 761"/>
                    <a:gd name="T11" fmla="*/ 1658 h 897"/>
                    <a:gd name="T12" fmla="+- 0 4475 4365"/>
                    <a:gd name="T13" fmla="*/ T12 w 120"/>
                    <a:gd name="T14" fmla="+- 0 1558 761"/>
                    <a:gd name="T15" fmla="*/ 1558 h 897"/>
                    <a:gd name="T16" fmla="+- 0 4405 4365"/>
                    <a:gd name="T17" fmla="*/ T16 w 120"/>
                    <a:gd name="T18" fmla="+- 0 1558 761"/>
                    <a:gd name="T19" fmla="*/ 1558 h 897"/>
                    <a:gd name="T20" fmla="+- 0 4405 4365"/>
                    <a:gd name="T21" fmla="*/ T20 w 120"/>
                    <a:gd name="T22" fmla="+- 0 1538 761"/>
                    <a:gd name="T23" fmla="*/ 1538 h 897"/>
                    <a:gd name="T24" fmla="+- 0 4445 4365"/>
                    <a:gd name="T25" fmla="*/ T24 w 120"/>
                    <a:gd name="T26" fmla="+- 0 761 761"/>
                    <a:gd name="T27" fmla="*/ 761 h 897"/>
                    <a:gd name="T28" fmla="+- 0 4405 4365"/>
                    <a:gd name="T29" fmla="*/ T28 w 120"/>
                    <a:gd name="T30" fmla="+- 0 761 761"/>
                    <a:gd name="T31" fmla="*/ 761 h 897"/>
                    <a:gd name="T32" fmla="+- 0 4405 4365"/>
                    <a:gd name="T33" fmla="*/ T32 w 120"/>
                    <a:gd name="T34" fmla="+- 0 1558 761"/>
                    <a:gd name="T35" fmla="*/ 1558 h 897"/>
                    <a:gd name="T36" fmla="+- 0 4445 4365"/>
                    <a:gd name="T37" fmla="*/ T36 w 120"/>
                    <a:gd name="T38" fmla="+- 0 1558 761"/>
                    <a:gd name="T39" fmla="*/ 1558 h 897"/>
                    <a:gd name="T40" fmla="+- 0 4445 4365"/>
                    <a:gd name="T41" fmla="*/ T40 w 120"/>
                    <a:gd name="T42" fmla="+- 0 761 761"/>
                    <a:gd name="T43" fmla="*/ 761 h 897"/>
                    <a:gd name="T44" fmla="+- 0 4485 4365"/>
                    <a:gd name="T45" fmla="*/ T44 w 120"/>
                    <a:gd name="T46" fmla="+- 0 1538 761"/>
                    <a:gd name="T47" fmla="*/ 1538 h 897"/>
                    <a:gd name="T48" fmla="+- 0 4445 4365"/>
                    <a:gd name="T49" fmla="*/ T48 w 120"/>
                    <a:gd name="T50" fmla="+- 0 1538 761"/>
                    <a:gd name="T51" fmla="*/ 1538 h 897"/>
                    <a:gd name="T52" fmla="+- 0 4445 4365"/>
                    <a:gd name="T53" fmla="*/ T52 w 120"/>
                    <a:gd name="T54" fmla="+- 0 1558 761"/>
                    <a:gd name="T55" fmla="*/ 1558 h 897"/>
                    <a:gd name="T56" fmla="+- 0 4475 4365"/>
                    <a:gd name="T57" fmla="*/ T56 w 120"/>
                    <a:gd name="T58" fmla="+- 0 1558 761"/>
                    <a:gd name="T59" fmla="*/ 1558 h 897"/>
                    <a:gd name="T60" fmla="+- 0 4485 4365"/>
                    <a:gd name="T61" fmla="*/ T60 w 120"/>
                    <a:gd name="T62" fmla="+- 0 1538 761"/>
                    <a:gd name="T63" fmla="*/ 1538 h 897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  <a:cxn ang="0">
                      <a:pos x="T17" y="T19"/>
                    </a:cxn>
                    <a:cxn ang="0">
                      <a:pos x="T21" y="T23"/>
                    </a:cxn>
                    <a:cxn ang="0">
                      <a:pos x="T25" y="T27"/>
                    </a:cxn>
                    <a:cxn ang="0">
                      <a:pos x="T29" y="T31"/>
                    </a:cxn>
                    <a:cxn ang="0">
                      <a:pos x="T33" y="T35"/>
                    </a:cxn>
                    <a:cxn ang="0">
                      <a:pos x="T37" y="T39"/>
                    </a:cxn>
                    <a:cxn ang="0">
                      <a:pos x="T41" y="T43"/>
                    </a:cxn>
                    <a:cxn ang="0">
                      <a:pos x="T45" y="T47"/>
                    </a:cxn>
                    <a:cxn ang="0">
                      <a:pos x="T49" y="T51"/>
                    </a:cxn>
                    <a:cxn ang="0">
                      <a:pos x="T53" y="T55"/>
                    </a:cxn>
                    <a:cxn ang="0">
                      <a:pos x="T57" y="T59"/>
                    </a:cxn>
                    <a:cxn ang="0">
                      <a:pos x="T61" y="T63"/>
                    </a:cxn>
                  </a:cxnLst>
                  <a:rect l="0" t="0" r="r" b="b"/>
                  <a:pathLst>
                    <a:path w="120" h="897">
                      <a:moveTo>
                        <a:pt x="40" y="777"/>
                      </a:moveTo>
                      <a:lnTo>
                        <a:pt x="0" y="777"/>
                      </a:lnTo>
                      <a:lnTo>
                        <a:pt x="60" y="897"/>
                      </a:lnTo>
                      <a:lnTo>
                        <a:pt x="110" y="797"/>
                      </a:lnTo>
                      <a:lnTo>
                        <a:pt x="40" y="797"/>
                      </a:lnTo>
                      <a:lnTo>
                        <a:pt x="40" y="777"/>
                      </a:lnTo>
                      <a:close/>
                      <a:moveTo>
                        <a:pt x="80" y="0"/>
                      </a:moveTo>
                      <a:lnTo>
                        <a:pt x="40" y="0"/>
                      </a:lnTo>
                      <a:lnTo>
                        <a:pt x="40" y="797"/>
                      </a:lnTo>
                      <a:lnTo>
                        <a:pt x="80" y="797"/>
                      </a:lnTo>
                      <a:lnTo>
                        <a:pt x="80" y="0"/>
                      </a:lnTo>
                      <a:close/>
                      <a:moveTo>
                        <a:pt x="120" y="777"/>
                      </a:moveTo>
                      <a:lnTo>
                        <a:pt x="80" y="777"/>
                      </a:lnTo>
                      <a:lnTo>
                        <a:pt x="80" y="797"/>
                      </a:lnTo>
                      <a:lnTo>
                        <a:pt x="110" y="797"/>
                      </a:lnTo>
                      <a:lnTo>
                        <a:pt x="120" y="77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3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8" name="AutoShape 50"/>
                <p:cNvSpPr>
                  <a:spLocks/>
                </p:cNvSpPr>
                <p:nvPr/>
              </p:nvSpPr>
              <p:spPr bwMode="auto">
                <a:xfrm>
                  <a:off x="8660328" y="2997243"/>
                  <a:ext cx="74749" cy="761133"/>
                </a:xfrm>
                <a:custGeom>
                  <a:avLst/>
                  <a:gdLst>
                    <a:gd name="T0" fmla="+- 0 4405 4365"/>
                    <a:gd name="T1" fmla="*/ T0 w 120"/>
                    <a:gd name="T2" fmla="+- 0 1538 761"/>
                    <a:gd name="T3" fmla="*/ 1538 h 897"/>
                    <a:gd name="T4" fmla="+- 0 4365 4365"/>
                    <a:gd name="T5" fmla="*/ T4 w 120"/>
                    <a:gd name="T6" fmla="+- 0 1538 761"/>
                    <a:gd name="T7" fmla="*/ 1538 h 897"/>
                    <a:gd name="T8" fmla="+- 0 4425 4365"/>
                    <a:gd name="T9" fmla="*/ T8 w 120"/>
                    <a:gd name="T10" fmla="+- 0 1658 761"/>
                    <a:gd name="T11" fmla="*/ 1658 h 897"/>
                    <a:gd name="T12" fmla="+- 0 4475 4365"/>
                    <a:gd name="T13" fmla="*/ T12 w 120"/>
                    <a:gd name="T14" fmla="+- 0 1558 761"/>
                    <a:gd name="T15" fmla="*/ 1558 h 897"/>
                    <a:gd name="T16" fmla="+- 0 4405 4365"/>
                    <a:gd name="T17" fmla="*/ T16 w 120"/>
                    <a:gd name="T18" fmla="+- 0 1558 761"/>
                    <a:gd name="T19" fmla="*/ 1558 h 897"/>
                    <a:gd name="T20" fmla="+- 0 4405 4365"/>
                    <a:gd name="T21" fmla="*/ T20 w 120"/>
                    <a:gd name="T22" fmla="+- 0 1538 761"/>
                    <a:gd name="T23" fmla="*/ 1538 h 897"/>
                    <a:gd name="T24" fmla="+- 0 4445 4365"/>
                    <a:gd name="T25" fmla="*/ T24 w 120"/>
                    <a:gd name="T26" fmla="+- 0 761 761"/>
                    <a:gd name="T27" fmla="*/ 761 h 897"/>
                    <a:gd name="T28" fmla="+- 0 4405 4365"/>
                    <a:gd name="T29" fmla="*/ T28 w 120"/>
                    <a:gd name="T30" fmla="+- 0 761 761"/>
                    <a:gd name="T31" fmla="*/ 761 h 897"/>
                    <a:gd name="T32" fmla="+- 0 4405 4365"/>
                    <a:gd name="T33" fmla="*/ T32 w 120"/>
                    <a:gd name="T34" fmla="+- 0 1558 761"/>
                    <a:gd name="T35" fmla="*/ 1558 h 897"/>
                    <a:gd name="T36" fmla="+- 0 4445 4365"/>
                    <a:gd name="T37" fmla="*/ T36 w 120"/>
                    <a:gd name="T38" fmla="+- 0 1558 761"/>
                    <a:gd name="T39" fmla="*/ 1558 h 897"/>
                    <a:gd name="T40" fmla="+- 0 4445 4365"/>
                    <a:gd name="T41" fmla="*/ T40 w 120"/>
                    <a:gd name="T42" fmla="+- 0 761 761"/>
                    <a:gd name="T43" fmla="*/ 761 h 897"/>
                    <a:gd name="T44" fmla="+- 0 4485 4365"/>
                    <a:gd name="T45" fmla="*/ T44 w 120"/>
                    <a:gd name="T46" fmla="+- 0 1538 761"/>
                    <a:gd name="T47" fmla="*/ 1538 h 897"/>
                    <a:gd name="T48" fmla="+- 0 4445 4365"/>
                    <a:gd name="T49" fmla="*/ T48 w 120"/>
                    <a:gd name="T50" fmla="+- 0 1538 761"/>
                    <a:gd name="T51" fmla="*/ 1538 h 897"/>
                    <a:gd name="T52" fmla="+- 0 4445 4365"/>
                    <a:gd name="T53" fmla="*/ T52 w 120"/>
                    <a:gd name="T54" fmla="+- 0 1558 761"/>
                    <a:gd name="T55" fmla="*/ 1558 h 897"/>
                    <a:gd name="T56" fmla="+- 0 4475 4365"/>
                    <a:gd name="T57" fmla="*/ T56 w 120"/>
                    <a:gd name="T58" fmla="+- 0 1558 761"/>
                    <a:gd name="T59" fmla="*/ 1558 h 897"/>
                    <a:gd name="T60" fmla="+- 0 4485 4365"/>
                    <a:gd name="T61" fmla="*/ T60 w 120"/>
                    <a:gd name="T62" fmla="+- 0 1538 761"/>
                    <a:gd name="T63" fmla="*/ 1538 h 897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  <a:cxn ang="0">
                      <a:pos x="T17" y="T19"/>
                    </a:cxn>
                    <a:cxn ang="0">
                      <a:pos x="T21" y="T23"/>
                    </a:cxn>
                    <a:cxn ang="0">
                      <a:pos x="T25" y="T27"/>
                    </a:cxn>
                    <a:cxn ang="0">
                      <a:pos x="T29" y="T31"/>
                    </a:cxn>
                    <a:cxn ang="0">
                      <a:pos x="T33" y="T35"/>
                    </a:cxn>
                    <a:cxn ang="0">
                      <a:pos x="T37" y="T39"/>
                    </a:cxn>
                    <a:cxn ang="0">
                      <a:pos x="T41" y="T43"/>
                    </a:cxn>
                    <a:cxn ang="0">
                      <a:pos x="T45" y="T47"/>
                    </a:cxn>
                    <a:cxn ang="0">
                      <a:pos x="T49" y="T51"/>
                    </a:cxn>
                    <a:cxn ang="0">
                      <a:pos x="T53" y="T55"/>
                    </a:cxn>
                    <a:cxn ang="0">
                      <a:pos x="T57" y="T59"/>
                    </a:cxn>
                    <a:cxn ang="0">
                      <a:pos x="T61" y="T63"/>
                    </a:cxn>
                  </a:cxnLst>
                  <a:rect l="0" t="0" r="r" b="b"/>
                  <a:pathLst>
                    <a:path w="120" h="897">
                      <a:moveTo>
                        <a:pt x="40" y="777"/>
                      </a:moveTo>
                      <a:lnTo>
                        <a:pt x="0" y="777"/>
                      </a:lnTo>
                      <a:lnTo>
                        <a:pt x="60" y="897"/>
                      </a:lnTo>
                      <a:lnTo>
                        <a:pt x="110" y="797"/>
                      </a:lnTo>
                      <a:lnTo>
                        <a:pt x="40" y="797"/>
                      </a:lnTo>
                      <a:lnTo>
                        <a:pt x="40" y="777"/>
                      </a:lnTo>
                      <a:close/>
                      <a:moveTo>
                        <a:pt x="80" y="0"/>
                      </a:moveTo>
                      <a:lnTo>
                        <a:pt x="40" y="0"/>
                      </a:lnTo>
                      <a:lnTo>
                        <a:pt x="40" y="797"/>
                      </a:lnTo>
                      <a:lnTo>
                        <a:pt x="80" y="797"/>
                      </a:lnTo>
                      <a:lnTo>
                        <a:pt x="80" y="0"/>
                      </a:lnTo>
                      <a:close/>
                      <a:moveTo>
                        <a:pt x="120" y="777"/>
                      </a:moveTo>
                      <a:lnTo>
                        <a:pt x="80" y="777"/>
                      </a:lnTo>
                      <a:lnTo>
                        <a:pt x="80" y="797"/>
                      </a:lnTo>
                      <a:lnTo>
                        <a:pt x="110" y="797"/>
                      </a:lnTo>
                      <a:lnTo>
                        <a:pt x="120" y="77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3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9" name="AutoShape 50"/>
                <p:cNvSpPr>
                  <a:spLocks/>
                </p:cNvSpPr>
                <p:nvPr/>
              </p:nvSpPr>
              <p:spPr bwMode="auto">
                <a:xfrm>
                  <a:off x="9801711" y="3010417"/>
                  <a:ext cx="74749" cy="761133"/>
                </a:xfrm>
                <a:custGeom>
                  <a:avLst/>
                  <a:gdLst>
                    <a:gd name="T0" fmla="+- 0 4405 4365"/>
                    <a:gd name="T1" fmla="*/ T0 w 120"/>
                    <a:gd name="T2" fmla="+- 0 1538 761"/>
                    <a:gd name="T3" fmla="*/ 1538 h 897"/>
                    <a:gd name="T4" fmla="+- 0 4365 4365"/>
                    <a:gd name="T5" fmla="*/ T4 w 120"/>
                    <a:gd name="T6" fmla="+- 0 1538 761"/>
                    <a:gd name="T7" fmla="*/ 1538 h 897"/>
                    <a:gd name="T8" fmla="+- 0 4425 4365"/>
                    <a:gd name="T9" fmla="*/ T8 w 120"/>
                    <a:gd name="T10" fmla="+- 0 1658 761"/>
                    <a:gd name="T11" fmla="*/ 1658 h 897"/>
                    <a:gd name="T12" fmla="+- 0 4475 4365"/>
                    <a:gd name="T13" fmla="*/ T12 w 120"/>
                    <a:gd name="T14" fmla="+- 0 1558 761"/>
                    <a:gd name="T15" fmla="*/ 1558 h 897"/>
                    <a:gd name="T16" fmla="+- 0 4405 4365"/>
                    <a:gd name="T17" fmla="*/ T16 w 120"/>
                    <a:gd name="T18" fmla="+- 0 1558 761"/>
                    <a:gd name="T19" fmla="*/ 1558 h 897"/>
                    <a:gd name="T20" fmla="+- 0 4405 4365"/>
                    <a:gd name="T21" fmla="*/ T20 w 120"/>
                    <a:gd name="T22" fmla="+- 0 1538 761"/>
                    <a:gd name="T23" fmla="*/ 1538 h 897"/>
                    <a:gd name="T24" fmla="+- 0 4445 4365"/>
                    <a:gd name="T25" fmla="*/ T24 w 120"/>
                    <a:gd name="T26" fmla="+- 0 761 761"/>
                    <a:gd name="T27" fmla="*/ 761 h 897"/>
                    <a:gd name="T28" fmla="+- 0 4405 4365"/>
                    <a:gd name="T29" fmla="*/ T28 w 120"/>
                    <a:gd name="T30" fmla="+- 0 761 761"/>
                    <a:gd name="T31" fmla="*/ 761 h 897"/>
                    <a:gd name="T32" fmla="+- 0 4405 4365"/>
                    <a:gd name="T33" fmla="*/ T32 w 120"/>
                    <a:gd name="T34" fmla="+- 0 1558 761"/>
                    <a:gd name="T35" fmla="*/ 1558 h 897"/>
                    <a:gd name="T36" fmla="+- 0 4445 4365"/>
                    <a:gd name="T37" fmla="*/ T36 w 120"/>
                    <a:gd name="T38" fmla="+- 0 1558 761"/>
                    <a:gd name="T39" fmla="*/ 1558 h 897"/>
                    <a:gd name="T40" fmla="+- 0 4445 4365"/>
                    <a:gd name="T41" fmla="*/ T40 w 120"/>
                    <a:gd name="T42" fmla="+- 0 761 761"/>
                    <a:gd name="T43" fmla="*/ 761 h 897"/>
                    <a:gd name="T44" fmla="+- 0 4485 4365"/>
                    <a:gd name="T45" fmla="*/ T44 w 120"/>
                    <a:gd name="T46" fmla="+- 0 1538 761"/>
                    <a:gd name="T47" fmla="*/ 1538 h 897"/>
                    <a:gd name="T48" fmla="+- 0 4445 4365"/>
                    <a:gd name="T49" fmla="*/ T48 w 120"/>
                    <a:gd name="T50" fmla="+- 0 1538 761"/>
                    <a:gd name="T51" fmla="*/ 1538 h 897"/>
                    <a:gd name="T52" fmla="+- 0 4445 4365"/>
                    <a:gd name="T53" fmla="*/ T52 w 120"/>
                    <a:gd name="T54" fmla="+- 0 1558 761"/>
                    <a:gd name="T55" fmla="*/ 1558 h 897"/>
                    <a:gd name="T56" fmla="+- 0 4475 4365"/>
                    <a:gd name="T57" fmla="*/ T56 w 120"/>
                    <a:gd name="T58" fmla="+- 0 1558 761"/>
                    <a:gd name="T59" fmla="*/ 1558 h 897"/>
                    <a:gd name="T60" fmla="+- 0 4485 4365"/>
                    <a:gd name="T61" fmla="*/ T60 w 120"/>
                    <a:gd name="T62" fmla="+- 0 1538 761"/>
                    <a:gd name="T63" fmla="*/ 1538 h 897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  <a:cxn ang="0">
                      <a:pos x="T17" y="T19"/>
                    </a:cxn>
                    <a:cxn ang="0">
                      <a:pos x="T21" y="T23"/>
                    </a:cxn>
                    <a:cxn ang="0">
                      <a:pos x="T25" y="T27"/>
                    </a:cxn>
                    <a:cxn ang="0">
                      <a:pos x="T29" y="T31"/>
                    </a:cxn>
                    <a:cxn ang="0">
                      <a:pos x="T33" y="T35"/>
                    </a:cxn>
                    <a:cxn ang="0">
                      <a:pos x="T37" y="T39"/>
                    </a:cxn>
                    <a:cxn ang="0">
                      <a:pos x="T41" y="T43"/>
                    </a:cxn>
                    <a:cxn ang="0">
                      <a:pos x="T45" y="T47"/>
                    </a:cxn>
                    <a:cxn ang="0">
                      <a:pos x="T49" y="T51"/>
                    </a:cxn>
                    <a:cxn ang="0">
                      <a:pos x="T53" y="T55"/>
                    </a:cxn>
                    <a:cxn ang="0">
                      <a:pos x="T57" y="T59"/>
                    </a:cxn>
                    <a:cxn ang="0">
                      <a:pos x="T61" y="T63"/>
                    </a:cxn>
                  </a:cxnLst>
                  <a:rect l="0" t="0" r="r" b="b"/>
                  <a:pathLst>
                    <a:path w="120" h="897">
                      <a:moveTo>
                        <a:pt x="40" y="777"/>
                      </a:moveTo>
                      <a:lnTo>
                        <a:pt x="0" y="777"/>
                      </a:lnTo>
                      <a:lnTo>
                        <a:pt x="60" y="897"/>
                      </a:lnTo>
                      <a:lnTo>
                        <a:pt x="110" y="797"/>
                      </a:lnTo>
                      <a:lnTo>
                        <a:pt x="40" y="797"/>
                      </a:lnTo>
                      <a:lnTo>
                        <a:pt x="40" y="777"/>
                      </a:lnTo>
                      <a:close/>
                      <a:moveTo>
                        <a:pt x="80" y="0"/>
                      </a:moveTo>
                      <a:lnTo>
                        <a:pt x="40" y="0"/>
                      </a:lnTo>
                      <a:lnTo>
                        <a:pt x="40" y="797"/>
                      </a:lnTo>
                      <a:lnTo>
                        <a:pt x="80" y="797"/>
                      </a:lnTo>
                      <a:lnTo>
                        <a:pt x="80" y="0"/>
                      </a:lnTo>
                      <a:close/>
                      <a:moveTo>
                        <a:pt x="120" y="777"/>
                      </a:moveTo>
                      <a:lnTo>
                        <a:pt x="80" y="777"/>
                      </a:lnTo>
                      <a:lnTo>
                        <a:pt x="80" y="797"/>
                      </a:lnTo>
                      <a:lnTo>
                        <a:pt x="110" y="797"/>
                      </a:lnTo>
                      <a:lnTo>
                        <a:pt x="120" y="77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3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65" name="AutoShape 42"/>
              <p:cNvSpPr>
                <a:spLocks/>
              </p:cNvSpPr>
              <p:nvPr/>
            </p:nvSpPr>
            <p:spPr bwMode="auto">
              <a:xfrm rot="16200000" flipV="1">
                <a:off x="3363296" y="2743169"/>
                <a:ext cx="404861" cy="58302"/>
              </a:xfrm>
              <a:custGeom>
                <a:avLst/>
                <a:gdLst>
                  <a:gd name="T0" fmla="+- 0 7359 4745"/>
                  <a:gd name="T1" fmla="*/ T0 w 2734"/>
                  <a:gd name="T2" fmla="+- 0 2066 1946"/>
                  <a:gd name="T3" fmla="*/ 2066 h 120"/>
                  <a:gd name="T4" fmla="+- 0 7379 4745"/>
                  <a:gd name="T5" fmla="*/ T4 w 2734"/>
                  <a:gd name="T6" fmla="+- 0 2026 1946"/>
                  <a:gd name="T7" fmla="*/ 2026 h 120"/>
                  <a:gd name="T8" fmla="+- 0 7439 4745"/>
                  <a:gd name="T9" fmla="*/ T8 w 2734"/>
                  <a:gd name="T10" fmla="+- 0 1986 1946"/>
                  <a:gd name="T11" fmla="*/ 1986 h 120"/>
                  <a:gd name="T12" fmla="+- 0 7359 4745"/>
                  <a:gd name="T13" fmla="*/ T12 w 2734"/>
                  <a:gd name="T14" fmla="+- 0 1986 1946"/>
                  <a:gd name="T15" fmla="*/ 1986 h 120"/>
                  <a:gd name="T16" fmla="+- 0 7219 4745"/>
                  <a:gd name="T17" fmla="*/ T16 w 2734"/>
                  <a:gd name="T18" fmla="+- 0 2026 1946"/>
                  <a:gd name="T19" fmla="*/ 2026 h 120"/>
                  <a:gd name="T20" fmla="+- 0 7359 4745"/>
                  <a:gd name="T21" fmla="*/ T20 w 2734"/>
                  <a:gd name="T22" fmla="+- 0 1986 1946"/>
                  <a:gd name="T23" fmla="*/ 1986 h 120"/>
                  <a:gd name="T24" fmla="+- 0 7379 4745"/>
                  <a:gd name="T25" fmla="*/ T24 w 2734"/>
                  <a:gd name="T26" fmla="+- 0 1986 1946"/>
                  <a:gd name="T27" fmla="*/ 1986 h 120"/>
                  <a:gd name="T28" fmla="+- 0 7439 4745"/>
                  <a:gd name="T29" fmla="*/ T28 w 2734"/>
                  <a:gd name="T30" fmla="+- 0 2026 1946"/>
                  <a:gd name="T31" fmla="*/ 2026 h 120"/>
                  <a:gd name="T32" fmla="+- 0 7439 4745"/>
                  <a:gd name="T33" fmla="*/ T32 w 2734"/>
                  <a:gd name="T34" fmla="+- 0 1986 1946"/>
                  <a:gd name="T35" fmla="*/ 1986 h 120"/>
                  <a:gd name="T36" fmla="+- 0 6939 4745"/>
                  <a:gd name="T37" fmla="*/ T36 w 2734"/>
                  <a:gd name="T38" fmla="+- 0 1986 1946"/>
                  <a:gd name="T39" fmla="*/ 1986 h 120"/>
                  <a:gd name="T40" fmla="+- 0 7099 4745"/>
                  <a:gd name="T41" fmla="*/ T40 w 2734"/>
                  <a:gd name="T42" fmla="+- 0 2026 1946"/>
                  <a:gd name="T43" fmla="*/ 2026 h 120"/>
                  <a:gd name="T44" fmla="+- 0 6819 4745"/>
                  <a:gd name="T45" fmla="*/ T44 w 2734"/>
                  <a:gd name="T46" fmla="+- 0 1986 1946"/>
                  <a:gd name="T47" fmla="*/ 1986 h 120"/>
                  <a:gd name="T48" fmla="+- 0 6659 4745"/>
                  <a:gd name="T49" fmla="*/ T48 w 2734"/>
                  <a:gd name="T50" fmla="+- 0 2026 1946"/>
                  <a:gd name="T51" fmla="*/ 2026 h 120"/>
                  <a:gd name="T52" fmla="+- 0 6819 4745"/>
                  <a:gd name="T53" fmla="*/ T52 w 2734"/>
                  <a:gd name="T54" fmla="+- 0 1986 1946"/>
                  <a:gd name="T55" fmla="*/ 1986 h 120"/>
                  <a:gd name="T56" fmla="+- 0 6379 4745"/>
                  <a:gd name="T57" fmla="*/ T56 w 2734"/>
                  <a:gd name="T58" fmla="+- 0 1986 1946"/>
                  <a:gd name="T59" fmla="*/ 1986 h 120"/>
                  <a:gd name="T60" fmla="+- 0 6539 4745"/>
                  <a:gd name="T61" fmla="*/ T60 w 2734"/>
                  <a:gd name="T62" fmla="+- 0 2026 1946"/>
                  <a:gd name="T63" fmla="*/ 2026 h 120"/>
                  <a:gd name="T64" fmla="+- 0 6259 4745"/>
                  <a:gd name="T65" fmla="*/ T64 w 2734"/>
                  <a:gd name="T66" fmla="+- 0 1986 1946"/>
                  <a:gd name="T67" fmla="*/ 1986 h 120"/>
                  <a:gd name="T68" fmla="+- 0 6099 4745"/>
                  <a:gd name="T69" fmla="*/ T68 w 2734"/>
                  <a:gd name="T70" fmla="+- 0 2026 1946"/>
                  <a:gd name="T71" fmla="*/ 2026 h 120"/>
                  <a:gd name="T72" fmla="+- 0 6259 4745"/>
                  <a:gd name="T73" fmla="*/ T72 w 2734"/>
                  <a:gd name="T74" fmla="+- 0 1986 1946"/>
                  <a:gd name="T75" fmla="*/ 1986 h 120"/>
                  <a:gd name="T76" fmla="+- 0 5819 4745"/>
                  <a:gd name="T77" fmla="*/ T76 w 2734"/>
                  <a:gd name="T78" fmla="+- 0 1986 1946"/>
                  <a:gd name="T79" fmla="*/ 1986 h 120"/>
                  <a:gd name="T80" fmla="+- 0 5979 4745"/>
                  <a:gd name="T81" fmla="*/ T80 w 2734"/>
                  <a:gd name="T82" fmla="+- 0 2026 1946"/>
                  <a:gd name="T83" fmla="*/ 2026 h 120"/>
                  <a:gd name="T84" fmla="+- 0 5699 4745"/>
                  <a:gd name="T85" fmla="*/ T84 w 2734"/>
                  <a:gd name="T86" fmla="+- 0 1986 1946"/>
                  <a:gd name="T87" fmla="*/ 1986 h 120"/>
                  <a:gd name="T88" fmla="+- 0 5539 4745"/>
                  <a:gd name="T89" fmla="*/ T88 w 2734"/>
                  <a:gd name="T90" fmla="+- 0 2026 1946"/>
                  <a:gd name="T91" fmla="*/ 2026 h 120"/>
                  <a:gd name="T92" fmla="+- 0 5699 4745"/>
                  <a:gd name="T93" fmla="*/ T92 w 2734"/>
                  <a:gd name="T94" fmla="+- 0 1986 1946"/>
                  <a:gd name="T95" fmla="*/ 1986 h 120"/>
                  <a:gd name="T96" fmla="+- 0 5259 4745"/>
                  <a:gd name="T97" fmla="*/ T96 w 2734"/>
                  <a:gd name="T98" fmla="+- 0 1986 1946"/>
                  <a:gd name="T99" fmla="*/ 1986 h 120"/>
                  <a:gd name="T100" fmla="+- 0 5419 4745"/>
                  <a:gd name="T101" fmla="*/ T100 w 2734"/>
                  <a:gd name="T102" fmla="+- 0 2026 1946"/>
                  <a:gd name="T103" fmla="*/ 2026 h 120"/>
                  <a:gd name="T104" fmla="+- 0 5139 4745"/>
                  <a:gd name="T105" fmla="*/ T104 w 2734"/>
                  <a:gd name="T106" fmla="+- 0 1986 1946"/>
                  <a:gd name="T107" fmla="*/ 1986 h 120"/>
                  <a:gd name="T108" fmla="+- 0 4979 4745"/>
                  <a:gd name="T109" fmla="*/ T108 w 2734"/>
                  <a:gd name="T110" fmla="+- 0 2026 1946"/>
                  <a:gd name="T111" fmla="*/ 2026 h 120"/>
                  <a:gd name="T112" fmla="+- 0 5139 4745"/>
                  <a:gd name="T113" fmla="*/ T112 w 2734"/>
                  <a:gd name="T114" fmla="+- 0 1986 1946"/>
                  <a:gd name="T115" fmla="*/ 1986 h 120"/>
                  <a:gd name="T116" fmla="+- 0 4745 4745"/>
                  <a:gd name="T117" fmla="*/ T116 w 2734"/>
                  <a:gd name="T118" fmla="+- 0 2006 1946"/>
                  <a:gd name="T119" fmla="*/ 2006 h 120"/>
                  <a:gd name="T120" fmla="+- 0 4865 4745"/>
                  <a:gd name="T121" fmla="*/ T120 w 2734"/>
                  <a:gd name="T122" fmla="+- 0 2026 1946"/>
                  <a:gd name="T123" fmla="*/ 2026 h 120"/>
                  <a:gd name="T124" fmla="+- 0 4845 4745"/>
                  <a:gd name="T125" fmla="*/ T124 w 2734"/>
                  <a:gd name="T126" fmla="+- 0 1986 1946"/>
                  <a:gd name="T127" fmla="*/ 1986 h 120"/>
                  <a:gd name="T128" fmla="+- 0 4865 4745"/>
                  <a:gd name="T129" fmla="*/ T128 w 2734"/>
                  <a:gd name="T130" fmla="+- 0 1946 1946"/>
                  <a:gd name="T131" fmla="*/ 1946 h 120"/>
                  <a:gd name="T132" fmla="+- 0 4845 4745"/>
                  <a:gd name="T133" fmla="*/ T132 w 2734"/>
                  <a:gd name="T134" fmla="+- 0 1986 1946"/>
                  <a:gd name="T135" fmla="*/ 1986 h 120"/>
                  <a:gd name="T136" fmla="+- 0 4859 4745"/>
                  <a:gd name="T137" fmla="*/ T136 w 2734"/>
                  <a:gd name="T138" fmla="+- 0 2026 1946"/>
                  <a:gd name="T139" fmla="*/ 2026 h 120"/>
                  <a:gd name="T140" fmla="+- 0 4865 4745"/>
                  <a:gd name="T141" fmla="*/ T140 w 2734"/>
                  <a:gd name="T142" fmla="+- 0 1986 1946"/>
                  <a:gd name="T143" fmla="*/ 1986 h 120"/>
                  <a:gd name="T144" fmla="+- 0 4859 4745"/>
                  <a:gd name="T145" fmla="*/ T144 w 2734"/>
                  <a:gd name="T146" fmla="+- 0 2026 1946"/>
                  <a:gd name="T147" fmla="*/ 2026 h 120"/>
                  <a:gd name="T148" fmla="+- 0 4865 4745"/>
                  <a:gd name="T149" fmla="*/ T148 w 2734"/>
                  <a:gd name="T150" fmla="+- 0 1986 1946"/>
                  <a:gd name="T151" fmla="*/ 1986 h 120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  <a:cxn ang="0">
                    <a:pos x="T105" y="T107"/>
                  </a:cxn>
                  <a:cxn ang="0">
                    <a:pos x="T109" y="T111"/>
                  </a:cxn>
                  <a:cxn ang="0">
                    <a:pos x="T113" y="T115"/>
                  </a:cxn>
                  <a:cxn ang="0">
                    <a:pos x="T117" y="T119"/>
                  </a:cxn>
                  <a:cxn ang="0">
                    <a:pos x="T121" y="T123"/>
                  </a:cxn>
                  <a:cxn ang="0">
                    <a:pos x="T125" y="T127"/>
                  </a:cxn>
                  <a:cxn ang="0">
                    <a:pos x="T129" y="T131"/>
                  </a:cxn>
                  <a:cxn ang="0">
                    <a:pos x="T133" y="T135"/>
                  </a:cxn>
                  <a:cxn ang="0">
                    <a:pos x="T137" y="T139"/>
                  </a:cxn>
                  <a:cxn ang="0">
                    <a:pos x="T141" y="T143"/>
                  </a:cxn>
                  <a:cxn ang="0">
                    <a:pos x="T145" y="T147"/>
                  </a:cxn>
                  <a:cxn ang="0">
                    <a:pos x="T149" y="T151"/>
                  </a:cxn>
                </a:cxnLst>
                <a:rect l="0" t="0" r="r" b="b"/>
                <a:pathLst>
                  <a:path w="2734" h="120">
                    <a:moveTo>
                      <a:pt x="2614" y="0"/>
                    </a:moveTo>
                    <a:lnTo>
                      <a:pt x="2614" y="120"/>
                    </a:lnTo>
                    <a:lnTo>
                      <a:pt x="2694" y="80"/>
                    </a:lnTo>
                    <a:lnTo>
                      <a:pt x="2634" y="80"/>
                    </a:lnTo>
                    <a:lnTo>
                      <a:pt x="2634" y="40"/>
                    </a:lnTo>
                    <a:lnTo>
                      <a:pt x="2694" y="40"/>
                    </a:lnTo>
                    <a:lnTo>
                      <a:pt x="2614" y="0"/>
                    </a:lnTo>
                    <a:close/>
                    <a:moveTo>
                      <a:pt x="2614" y="40"/>
                    </a:moveTo>
                    <a:lnTo>
                      <a:pt x="2474" y="40"/>
                    </a:lnTo>
                    <a:lnTo>
                      <a:pt x="2474" y="80"/>
                    </a:lnTo>
                    <a:lnTo>
                      <a:pt x="2614" y="80"/>
                    </a:lnTo>
                    <a:lnTo>
                      <a:pt x="2614" y="40"/>
                    </a:lnTo>
                    <a:close/>
                    <a:moveTo>
                      <a:pt x="2694" y="40"/>
                    </a:moveTo>
                    <a:lnTo>
                      <a:pt x="2634" y="40"/>
                    </a:lnTo>
                    <a:lnTo>
                      <a:pt x="2634" y="80"/>
                    </a:lnTo>
                    <a:lnTo>
                      <a:pt x="2694" y="80"/>
                    </a:lnTo>
                    <a:lnTo>
                      <a:pt x="2734" y="60"/>
                    </a:lnTo>
                    <a:lnTo>
                      <a:pt x="2694" y="40"/>
                    </a:lnTo>
                    <a:close/>
                    <a:moveTo>
                      <a:pt x="2354" y="40"/>
                    </a:moveTo>
                    <a:lnTo>
                      <a:pt x="2194" y="40"/>
                    </a:lnTo>
                    <a:lnTo>
                      <a:pt x="2194" y="80"/>
                    </a:lnTo>
                    <a:lnTo>
                      <a:pt x="2354" y="80"/>
                    </a:lnTo>
                    <a:lnTo>
                      <a:pt x="2354" y="40"/>
                    </a:lnTo>
                    <a:close/>
                    <a:moveTo>
                      <a:pt x="2074" y="40"/>
                    </a:moveTo>
                    <a:lnTo>
                      <a:pt x="1914" y="40"/>
                    </a:lnTo>
                    <a:lnTo>
                      <a:pt x="1914" y="80"/>
                    </a:lnTo>
                    <a:lnTo>
                      <a:pt x="2074" y="80"/>
                    </a:lnTo>
                    <a:lnTo>
                      <a:pt x="2074" y="40"/>
                    </a:lnTo>
                    <a:close/>
                    <a:moveTo>
                      <a:pt x="1794" y="40"/>
                    </a:moveTo>
                    <a:lnTo>
                      <a:pt x="1634" y="40"/>
                    </a:lnTo>
                    <a:lnTo>
                      <a:pt x="1634" y="80"/>
                    </a:lnTo>
                    <a:lnTo>
                      <a:pt x="1794" y="80"/>
                    </a:lnTo>
                    <a:lnTo>
                      <a:pt x="1794" y="40"/>
                    </a:lnTo>
                    <a:close/>
                    <a:moveTo>
                      <a:pt x="1514" y="40"/>
                    </a:moveTo>
                    <a:lnTo>
                      <a:pt x="1354" y="40"/>
                    </a:lnTo>
                    <a:lnTo>
                      <a:pt x="1354" y="80"/>
                    </a:lnTo>
                    <a:lnTo>
                      <a:pt x="1514" y="80"/>
                    </a:lnTo>
                    <a:lnTo>
                      <a:pt x="1514" y="40"/>
                    </a:lnTo>
                    <a:close/>
                    <a:moveTo>
                      <a:pt x="1234" y="40"/>
                    </a:moveTo>
                    <a:lnTo>
                      <a:pt x="1074" y="40"/>
                    </a:lnTo>
                    <a:lnTo>
                      <a:pt x="1074" y="80"/>
                    </a:lnTo>
                    <a:lnTo>
                      <a:pt x="1234" y="80"/>
                    </a:lnTo>
                    <a:lnTo>
                      <a:pt x="1234" y="40"/>
                    </a:lnTo>
                    <a:close/>
                    <a:moveTo>
                      <a:pt x="954" y="40"/>
                    </a:moveTo>
                    <a:lnTo>
                      <a:pt x="794" y="40"/>
                    </a:lnTo>
                    <a:lnTo>
                      <a:pt x="794" y="80"/>
                    </a:lnTo>
                    <a:lnTo>
                      <a:pt x="954" y="80"/>
                    </a:lnTo>
                    <a:lnTo>
                      <a:pt x="954" y="40"/>
                    </a:lnTo>
                    <a:close/>
                    <a:moveTo>
                      <a:pt x="674" y="40"/>
                    </a:moveTo>
                    <a:lnTo>
                      <a:pt x="514" y="40"/>
                    </a:lnTo>
                    <a:lnTo>
                      <a:pt x="514" y="80"/>
                    </a:lnTo>
                    <a:lnTo>
                      <a:pt x="674" y="80"/>
                    </a:lnTo>
                    <a:lnTo>
                      <a:pt x="674" y="40"/>
                    </a:lnTo>
                    <a:close/>
                    <a:moveTo>
                      <a:pt x="394" y="40"/>
                    </a:moveTo>
                    <a:lnTo>
                      <a:pt x="234" y="40"/>
                    </a:lnTo>
                    <a:lnTo>
                      <a:pt x="234" y="80"/>
                    </a:lnTo>
                    <a:lnTo>
                      <a:pt x="394" y="80"/>
                    </a:lnTo>
                    <a:lnTo>
                      <a:pt x="394" y="40"/>
                    </a:lnTo>
                    <a:close/>
                    <a:moveTo>
                      <a:pt x="120" y="0"/>
                    </a:moveTo>
                    <a:lnTo>
                      <a:pt x="0" y="60"/>
                    </a:lnTo>
                    <a:lnTo>
                      <a:pt x="120" y="120"/>
                    </a:lnTo>
                    <a:lnTo>
                      <a:pt x="120" y="80"/>
                    </a:lnTo>
                    <a:lnTo>
                      <a:pt x="100" y="80"/>
                    </a:lnTo>
                    <a:lnTo>
                      <a:pt x="100" y="40"/>
                    </a:lnTo>
                    <a:lnTo>
                      <a:pt x="120" y="40"/>
                    </a:lnTo>
                    <a:lnTo>
                      <a:pt x="120" y="0"/>
                    </a:lnTo>
                    <a:close/>
                    <a:moveTo>
                      <a:pt x="114" y="40"/>
                    </a:moveTo>
                    <a:lnTo>
                      <a:pt x="100" y="40"/>
                    </a:lnTo>
                    <a:lnTo>
                      <a:pt x="100" y="80"/>
                    </a:lnTo>
                    <a:lnTo>
                      <a:pt x="114" y="80"/>
                    </a:lnTo>
                    <a:lnTo>
                      <a:pt x="114" y="40"/>
                    </a:lnTo>
                    <a:close/>
                    <a:moveTo>
                      <a:pt x="120" y="40"/>
                    </a:moveTo>
                    <a:lnTo>
                      <a:pt x="114" y="40"/>
                    </a:lnTo>
                    <a:lnTo>
                      <a:pt x="114" y="80"/>
                    </a:lnTo>
                    <a:lnTo>
                      <a:pt x="120" y="80"/>
                    </a:lnTo>
                    <a:lnTo>
                      <a:pt x="120" y="40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/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4" name="AutoShape 42"/>
              <p:cNvSpPr>
                <a:spLocks/>
              </p:cNvSpPr>
              <p:nvPr/>
            </p:nvSpPr>
            <p:spPr bwMode="auto">
              <a:xfrm rot="16200000" flipV="1">
                <a:off x="7179285" y="2733974"/>
                <a:ext cx="404861" cy="54144"/>
              </a:xfrm>
              <a:custGeom>
                <a:avLst/>
                <a:gdLst>
                  <a:gd name="T0" fmla="+- 0 7359 4745"/>
                  <a:gd name="T1" fmla="*/ T0 w 2734"/>
                  <a:gd name="T2" fmla="+- 0 2066 1946"/>
                  <a:gd name="T3" fmla="*/ 2066 h 120"/>
                  <a:gd name="T4" fmla="+- 0 7379 4745"/>
                  <a:gd name="T5" fmla="*/ T4 w 2734"/>
                  <a:gd name="T6" fmla="+- 0 2026 1946"/>
                  <a:gd name="T7" fmla="*/ 2026 h 120"/>
                  <a:gd name="T8" fmla="+- 0 7439 4745"/>
                  <a:gd name="T9" fmla="*/ T8 w 2734"/>
                  <a:gd name="T10" fmla="+- 0 1986 1946"/>
                  <a:gd name="T11" fmla="*/ 1986 h 120"/>
                  <a:gd name="T12" fmla="+- 0 7359 4745"/>
                  <a:gd name="T13" fmla="*/ T12 w 2734"/>
                  <a:gd name="T14" fmla="+- 0 1986 1946"/>
                  <a:gd name="T15" fmla="*/ 1986 h 120"/>
                  <a:gd name="T16" fmla="+- 0 7219 4745"/>
                  <a:gd name="T17" fmla="*/ T16 w 2734"/>
                  <a:gd name="T18" fmla="+- 0 2026 1946"/>
                  <a:gd name="T19" fmla="*/ 2026 h 120"/>
                  <a:gd name="T20" fmla="+- 0 7359 4745"/>
                  <a:gd name="T21" fmla="*/ T20 w 2734"/>
                  <a:gd name="T22" fmla="+- 0 1986 1946"/>
                  <a:gd name="T23" fmla="*/ 1986 h 120"/>
                  <a:gd name="T24" fmla="+- 0 7379 4745"/>
                  <a:gd name="T25" fmla="*/ T24 w 2734"/>
                  <a:gd name="T26" fmla="+- 0 1986 1946"/>
                  <a:gd name="T27" fmla="*/ 1986 h 120"/>
                  <a:gd name="T28" fmla="+- 0 7439 4745"/>
                  <a:gd name="T29" fmla="*/ T28 w 2734"/>
                  <a:gd name="T30" fmla="+- 0 2026 1946"/>
                  <a:gd name="T31" fmla="*/ 2026 h 120"/>
                  <a:gd name="T32" fmla="+- 0 7439 4745"/>
                  <a:gd name="T33" fmla="*/ T32 w 2734"/>
                  <a:gd name="T34" fmla="+- 0 1986 1946"/>
                  <a:gd name="T35" fmla="*/ 1986 h 120"/>
                  <a:gd name="T36" fmla="+- 0 6939 4745"/>
                  <a:gd name="T37" fmla="*/ T36 w 2734"/>
                  <a:gd name="T38" fmla="+- 0 1986 1946"/>
                  <a:gd name="T39" fmla="*/ 1986 h 120"/>
                  <a:gd name="T40" fmla="+- 0 7099 4745"/>
                  <a:gd name="T41" fmla="*/ T40 w 2734"/>
                  <a:gd name="T42" fmla="+- 0 2026 1946"/>
                  <a:gd name="T43" fmla="*/ 2026 h 120"/>
                  <a:gd name="T44" fmla="+- 0 6819 4745"/>
                  <a:gd name="T45" fmla="*/ T44 w 2734"/>
                  <a:gd name="T46" fmla="+- 0 1986 1946"/>
                  <a:gd name="T47" fmla="*/ 1986 h 120"/>
                  <a:gd name="T48" fmla="+- 0 6659 4745"/>
                  <a:gd name="T49" fmla="*/ T48 w 2734"/>
                  <a:gd name="T50" fmla="+- 0 2026 1946"/>
                  <a:gd name="T51" fmla="*/ 2026 h 120"/>
                  <a:gd name="T52" fmla="+- 0 6819 4745"/>
                  <a:gd name="T53" fmla="*/ T52 w 2734"/>
                  <a:gd name="T54" fmla="+- 0 1986 1946"/>
                  <a:gd name="T55" fmla="*/ 1986 h 120"/>
                  <a:gd name="T56" fmla="+- 0 6379 4745"/>
                  <a:gd name="T57" fmla="*/ T56 w 2734"/>
                  <a:gd name="T58" fmla="+- 0 1986 1946"/>
                  <a:gd name="T59" fmla="*/ 1986 h 120"/>
                  <a:gd name="T60" fmla="+- 0 6539 4745"/>
                  <a:gd name="T61" fmla="*/ T60 w 2734"/>
                  <a:gd name="T62" fmla="+- 0 2026 1946"/>
                  <a:gd name="T63" fmla="*/ 2026 h 120"/>
                  <a:gd name="T64" fmla="+- 0 6259 4745"/>
                  <a:gd name="T65" fmla="*/ T64 w 2734"/>
                  <a:gd name="T66" fmla="+- 0 1986 1946"/>
                  <a:gd name="T67" fmla="*/ 1986 h 120"/>
                  <a:gd name="T68" fmla="+- 0 6099 4745"/>
                  <a:gd name="T69" fmla="*/ T68 w 2734"/>
                  <a:gd name="T70" fmla="+- 0 2026 1946"/>
                  <a:gd name="T71" fmla="*/ 2026 h 120"/>
                  <a:gd name="T72" fmla="+- 0 6259 4745"/>
                  <a:gd name="T73" fmla="*/ T72 w 2734"/>
                  <a:gd name="T74" fmla="+- 0 1986 1946"/>
                  <a:gd name="T75" fmla="*/ 1986 h 120"/>
                  <a:gd name="T76" fmla="+- 0 5819 4745"/>
                  <a:gd name="T77" fmla="*/ T76 w 2734"/>
                  <a:gd name="T78" fmla="+- 0 1986 1946"/>
                  <a:gd name="T79" fmla="*/ 1986 h 120"/>
                  <a:gd name="T80" fmla="+- 0 5979 4745"/>
                  <a:gd name="T81" fmla="*/ T80 w 2734"/>
                  <a:gd name="T82" fmla="+- 0 2026 1946"/>
                  <a:gd name="T83" fmla="*/ 2026 h 120"/>
                  <a:gd name="T84" fmla="+- 0 5699 4745"/>
                  <a:gd name="T85" fmla="*/ T84 w 2734"/>
                  <a:gd name="T86" fmla="+- 0 1986 1946"/>
                  <a:gd name="T87" fmla="*/ 1986 h 120"/>
                  <a:gd name="T88" fmla="+- 0 5539 4745"/>
                  <a:gd name="T89" fmla="*/ T88 w 2734"/>
                  <a:gd name="T90" fmla="+- 0 2026 1946"/>
                  <a:gd name="T91" fmla="*/ 2026 h 120"/>
                  <a:gd name="T92" fmla="+- 0 5699 4745"/>
                  <a:gd name="T93" fmla="*/ T92 w 2734"/>
                  <a:gd name="T94" fmla="+- 0 1986 1946"/>
                  <a:gd name="T95" fmla="*/ 1986 h 120"/>
                  <a:gd name="T96" fmla="+- 0 5259 4745"/>
                  <a:gd name="T97" fmla="*/ T96 w 2734"/>
                  <a:gd name="T98" fmla="+- 0 1986 1946"/>
                  <a:gd name="T99" fmla="*/ 1986 h 120"/>
                  <a:gd name="T100" fmla="+- 0 5419 4745"/>
                  <a:gd name="T101" fmla="*/ T100 w 2734"/>
                  <a:gd name="T102" fmla="+- 0 2026 1946"/>
                  <a:gd name="T103" fmla="*/ 2026 h 120"/>
                  <a:gd name="T104" fmla="+- 0 5139 4745"/>
                  <a:gd name="T105" fmla="*/ T104 w 2734"/>
                  <a:gd name="T106" fmla="+- 0 1986 1946"/>
                  <a:gd name="T107" fmla="*/ 1986 h 120"/>
                  <a:gd name="T108" fmla="+- 0 4979 4745"/>
                  <a:gd name="T109" fmla="*/ T108 w 2734"/>
                  <a:gd name="T110" fmla="+- 0 2026 1946"/>
                  <a:gd name="T111" fmla="*/ 2026 h 120"/>
                  <a:gd name="T112" fmla="+- 0 5139 4745"/>
                  <a:gd name="T113" fmla="*/ T112 w 2734"/>
                  <a:gd name="T114" fmla="+- 0 1986 1946"/>
                  <a:gd name="T115" fmla="*/ 1986 h 120"/>
                  <a:gd name="T116" fmla="+- 0 4745 4745"/>
                  <a:gd name="T117" fmla="*/ T116 w 2734"/>
                  <a:gd name="T118" fmla="+- 0 2006 1946"/>
                  <a:gd name="T119" fmla="*/ 2006 h 120"/>
                  <a:gd name="T120" fmla="+- 0 4865 4745"/>
                  <a:gd name="T121" fmla="*/ T120 w 2734"/>
                  <a:gd name="T122" fmla="+- 0 2026 1946"/>
                  <a:gd name="T123" fmla="*/ 2026 h 120"/>
                  <a:gd name="T124" fmla="+- 0 4845 4745"/>
                  <a:gd name="T125" fmla="*/ T124 w 2734"/>
                  <a:gd name="T126" fmla="+- 0 1986 1946"/>
                  <a:gd name="T127" fmla="*/ 1986 h 120"/>
                  <a:gd name="T128" fmla="+- 0 4865 4745"/>
                  <a:gd name="T129" fmla="*/ T128 w 2734"/>
                  <a:gd name="T130" fmla="+- 0 1946 1946"/>
                  <a:gd name="T131" fmla="*/ 1946 h 120"/>
                  <a:gd name="T132" fmla="+- 0 4845 4745"/>
                  <a:gd name="T133" fmla="*/ T132 w 2734"/>
                  <a:gd name="T134" fmla="+- 0 1986 1946"/>
                  <a:gd name="T135" fmla="*/ 1986 h 120"/>
                  <a:gd name="T136" fmla="+- 0 4859 4745"/>
                  <a:gd name="T137" fmla="*/ T136 w 2734"/>
                  <a:gd name="T138" fmla="+- 0 2026 1946"/>
                  <a:gd name="T139" fmla="*/ 2026 h 120"/>
                  <a:gd name="T140" fmla="+- 0 4865 4745"/>
                  <a:gd name="T141" fmla="*/ T140 w 2734"/>
                  <a:gd name="T142" fmla="+- 0 1986 1946"/>
                  <a:gd name="T143" fmla="*/ 1986 h 120"/>
                  <a:gd name="T144" fmla="+- 0 4859 4745"/>
                  <a:gd name="T145" fmla="*/ T144 w 2734"/>
                  <a:gd name="T146" fmla="+- 0 2026 1946"/>
                  <a:gd name="T147" fmla="*/ 2026 h 120"/>
                  <a:gd name="T148" fmla="+- 0 4865 4745"/>
                  <a:gd name="T149" fmla="*/ T148 w 2734"/>
                  <a:gd name="T150" fmla="+- 0 1986 1946"/>
                  <a:gd name="T151" fmla="*/ 1986 h 120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  <a:cxn ang="0">
                    <a:pos x="T105" y="T107"/>
                  </a:cxn>
                  <a:cxn ang="0">
                    <a:pos x="T109" y="T111"/>
                  </a:cxn>
                  <a:cxn ang="0">
                    <a:pos x="T113" y="T115"/>
                  </a:cxn>
                  <a:cxn ang="0">
                    <a:pos x="T117" y="T119"/>
                  </a:cxn>
                  <a:cxn ang="0">
                    <a:pos x="T121" y="T123"/>
                  </a:cxn>
                  <a:cxn ang="0">
                    <a:pos x="T125" y="T127"/>
                  </a:cxn>
                  <a:cxn ang="0">
                    <a:pos x="T129" y="T131"/>
                  </a:cxn>
                  <a:cxn ang="0">
                    <a:pos x="T133" y="T135"/>
                  </a:cxn>
                  <a:cxn ang="0">
                    <a:pos x="T137" y="T139"/>
                  </a:cxn>
                  <a:cxn ang="0">
                    <a:pos x="T141" y="T143"/>
                  </a:cxn>
                  <a:cxn ang="0">
                    <a:pos x="T145" y="T147"/>
                  </a:cxn>
                  <a:cxn ang="0">
                    <a:pos x="T149" y="T151"/>
                  </a:cxn>
                </a:cxnLst>
                <a:rect l="0" t="0" r="r" b="b"/>
                <a:pathLst>
                  <a:path w="2734" h="120">
                    <a:moveTo>
                      <a:pt x="2614" y="0"/>
                    </a:moveTo>
                    <a:lnTo>
                      <a:pt x="2614" y="120"/>
                    </a:lnTo>
                    <a:lnTo>
                      <a:pt x="2694" y="80"/>
                    </a:lnTo>
                    <a:lnTo>
                      <a:pt x="2634" y="80"/>
                    </a:lnTo>
                    <a:lnTo>
                      <a:pt x="2634" y="40"/>
                    </a:lnTo>
                    <a:lnTo>
                      <a:pt x="2694" y="40"/>
                    </a:lnTo>
                    <a:lnTo>
                      <a:pt x="2614" y="0"/>
                    </a:lnTo>
                    <a:close/>
                    <a:moveTo>
                      <a:pt x="2614" y="40"/>
                    </a:moveTo>
                    <a:lnTo>
                      <a:pt x="2474" y="40"/>
                    </a:lnTo>
                    <a:lnTo>
                      <a:pt x="2474" y="80"/>
                    </a:lnTo>
                    <a:lnTo>
                      <a:pt x="2614" y="80"/>
                    </a:lnTo>
                    <a:lnTo>
                      <a:pt x="2614" y="40"/>
                    </a:lnTo>
                    <a:close/>
                    <a:moveTo>
                      <a:pt x="2694" y="40"/>
                    </a:moveTo>
                    <a:lnTo>
                      <a:pt x="2634" y="40"/>
                    </a:lnTo>
                    <a:lnTo>
                      <a:pt x="2634" y="80"/>
                    </a:lnTo>
                    <a:lnTo>
                      <a:pt x="2694" y="80"/>
                    </a:lnTo>
                    <a:lnTo>
                      <a:pt x="2734" y="60"/>
                    </a:lnTo>
                    <a:lnTo>
                      <a:pt x="2694" y="40"/>
                    </a:lnTo>
                    <a:close/>
                    <a:moveTo>
                      <a:pt x="2354" y="40"/>
                    </a:moveTo>
                    <a:lnTo>
                      <a:pt x="2194" y="40"/>
                    </a:lnTo>
                    <a:lnTo>
                      <a:pt x="2194" y="80"/>
                    </a:lnTo>
                    <a:lnTo>
                      <a:pt x="2354" y="80"/>
                    </a:lnTo>
                    <a:lnTo>
                      <a:pt x="2354" y="40"/>
                    </a:lnTo>
                    <a:close/>
                    <a:moveTo>
                      <a:pt x="2074" y="40"/>
                    </a:moveTo>
                    <a:lnTo>
                      <a:pt x="1914" y="40"/>
                    </a:lnTo>
                    <a:lnTo>
                      <a:pt x="1914" y="80"/>
                    </a:lnTo>
                    <a:lnTo>
                      <a:pt x="2074" y="80"/>
                    </a:lnTo>
                    <a:lnTo>
                      <a:pt x="2074" y="40"/>
                    </a:lnTo>
                    <a:close/>
                    <a:moveTo>
                      <a:pt x="1794" y="40"/>
                    </a:moveTo>
                    <a:lnTo>
                      <a:pt x="1634" y="40"/>
                    </a:lnTo>
                    <a:lnTo>
                      <a:pt x="1634" y="80"/>
                    </a:lnTo>
                    <a:lnTo>
                      <a:pt x="1794" y="80"/>
                    </a:lnTo>
                    <a:lnTo>
                      <a:pt x="1794" y="40"/>
                    </a:lnTo>
                    <a:close/>
                    <a:moveTo>
                      <a:pt x="1514" y="40"/>
                    </a:moveTo>
                    <a:lnTo>
                      <a:pt x="1354" y="40"/>
                    </a:lnTo>
                    <a:lnTo>
                      <a:pt x="1354" y="80"/>
                    </a:lnTo>
                    <a:lnTo>
                      <a:pt x="1514" y="80"/>
                    </a:lnTo>
                    <a:lnTo>
                      <a:pt x="1514" y="40"/>
                    </a:lnTo>
                    <a:close/>
                    <a:moveTo>
                      <a:pt x="1234" y="40"/>
                    </a:moveTo>
                    <a:lnTo>
                      <a:pt x="1074" y="40"/>
                    </a:lnTo>
                    <a:lnTo>
                      <a:pt x="1074" y="80"/>
                    </a:lnTo>
                    <a:lnTo>
                      <a:pt x="1234" y="80"/>
                    </a:lnTo>
                    <a:lnTo>
                      <a:pt x="1234" y="40"/>
                    </a:lnTo>
                    <a:close/>
                    <a:moveTo>
                      <a:pt x="954" y="40"/>
                    </a:moveTo>
                    <a:lnTo>
                      <a:pt x="794" y="40"/>
                    </a:lnTo>
                    <a:lnTo>
                      <a:pt x="794" y="80"/>
                    </a:lnTo>
                    <a:lnTo>
                      <a:pt x="954" y="80"/>
                    </a:lnTo>
                    <a:lnTo>
                      <a:pt x="954" y="40"/>
                    </a:lnTo>
                    <a:close/>
                    <a:moveTo>
                      <a:pt x="674" y="40"/>
                    </a:moveTo>
                    <a:lnTo>
                      <a:pt x="514" y="40"/>
                    </a:lnTo>
                    <a:lnTo>
                      <a:pt x="514" y="80"/>
                    </a:lnTo>
                    <a:lnTo>
                      <a:pt x="674" y="80"/>
                    </a:lnTo>
                    <a:lnTo>
                      <a:pt x="674" y="40"/>
                    </a:lnTo>
                    <a:close/>
                    <a:moveTo>
                      <a:pt x="394" y="40"/>
                    </a:moveTo>
                    <a:lnTo>
                      <a:pt x="234" y="40"/>
                    </a:lnTo>
                    <a:lnTo>
                      <a:pt x="234" y="80"/>
                    </a:lnTo>
                    <a:lnTo>
                      <a:pt x="394" y="80"/>
                    </a:lnTo>
                    <a:lnTo>
                      <a:pt x="394" y="40"/>
                    </a:lnTo>
                    <a:close/>
                    <a:moveTo>
                      <a:pt x="120" y="0"/>
                    </a:moveTo>
                    <a:lnTo>
                      <a:pt x="0" y="60"/>
                    </a:lnTo>
                    <a:lnTo>
                      <a:pt x="120" y="120"/>
                    </a:lnTo>
                    <a:lnTo>
                      <a:pt x="120" y="80"/>
                    </a:lnTo>
                    <a:lnTo>
                      <a:pt x="100" y="80"/>
                    </a:lnTo>
                    <a:lnTo>
                      <a:pt x="100" y="40"/>
                    </a:lnTo>
                    <a:lnTo>
                      <a:pt x="120" y="40"/>
                    </a:lnTo>
                    <a:lnTo>
                      <a:pt x="120" y="0"/>
                    </a:lnTo>
                    <a:close/>
                    <a:moveTo>
                      <a:pt x="114" y="40"/>
                    </a:moveTo>
                    <a:lnTo>
                      <a:pt x="100" y="40"/>
                    </a:lnTo>
                    <a:lnTo>
                      <a:pt x="100" y="80"/>
                    </a:lnTo>
                    <a:lnTo>
                      <a:pt x="114" y="80"/>
                    </a:lnTo>
                    <a:lnTo>
                      <a:pt x="114" y="40"/>
                    </a:lnTo>
                    <a:close/>
                    <a:moveTo>
                      <a:pt x="120" y="40"/>
                    </a:moveTo>
                    <a:lnTo>
                      <a:pt x="114" y="40"/>
                    </a:lnTo>
                    <a:lnTo>
                      <a:pt x="114" y="80"/>
                    </a:lnTo>
                    <a:lnTo>
                      <a:pt x="120" y="80"/>
                    </a:lnTo>
                    <a:lnTo>
                      <a:pt x="120" y="40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/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15833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633</TotalTime>
  <Words>250</Words>
  <Application>Microsoft Office PowerPoint</Application>
  <PresentationFormat>Widescreen</PresentationFormat>
  <Paragraphs>41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20</cp:revision>
  <dcterms:created xsi:type="dcterms:W3CDTF">2026-03-11T07:44:19Z</dcterms:created>
  <dcterms:modified xsi:type="dcterms:W3CDTF">2026-05-05T09:11:40Z</dcterms:modified>
</cp:coreProperties>
</file>